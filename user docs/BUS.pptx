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71" r:id="rId4"/>
    <p:sldId id="27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3" r:id="rId16"/>
    <p:sldId id="274" r:id="rId17"/>
    <p:sldId id="275" r:id="rId18"/>
    <p:sldId id="268" r:id="rId19"/>
    <p:sldId id="272" r:id="rId20"/>
    <p:sldId id="269" r:id="rId21"/>
    <p:sldId id="27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4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78170-9015-4120-A105-DB6868B3D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A840B-7A76-47DD-A718-57E216B71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93E18-5E39-4ECB-8D8B-4A4BB2A29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D51D2-F9B6-4BCD-87CA-0F9E8F5FD703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1280B-C877-4354-B0FA-C64976218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D114D-551B-4FF9-937D-CE913AAD7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4FAE8-73B4-4F73-B617-26013C8460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3461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FAF6F-E03F-4B8C-8087-6D51BCEF3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9ED9D-6A65-4124-B56B-31B1CC28E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56CA4-7F08-4157-938B-0FEC559B0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D51D2-F9B6-4BCD-87CA-0F9E8F5FD703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9AA76-2E5C-4065-875F-39356858B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BC5E5-0E35-41BE-9872-E32A97937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4FAE8-73B4-4F73-B617-26013C8460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343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AC80C-8413-4E38-B186-08E4C54FD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112AD-62E8-461B-8A00-5274B9ACE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26637-D2C3-42B8-AA43-E3153E224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D51D2-F9B6-4BCD-87CA-0F9E8F5FD703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B7916-447E-42E0-960B-04189584A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4C0E9-4772-4A80-9B4A-26A82A72B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4FAE8-73B4-4F73-B617-26013C8460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337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04399-F00E-4E58-8DA8-8FF5C0BA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EEDD4-3391-4856-9FA7-A9F1CDAF80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A9AC46-68F1-4A27-BC6F-066E716D7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EEEB93-3EB3-4D2B-A044-0394C0C11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D51D2-F9B6-4BCD-87CA-0F9E8F5FD703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314958-EB49-4BFB-BA10-E8D429C06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E22A3-873E-4080-B3C1-1FD6320F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4FAE8-73B4-4F73-B617-26013C8460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486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389A3-DE63-41DE-AF5B-F21453B9B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8D108-30B0-4A5D-8BF3-D10BE3B24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ADC7B-D9EA-4438-8A93-7CDCF4E5D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63E71E-966F-46AB-8FDB-A47012C17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13E631-C177-4ED0-950F-91AFA6AFD9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923F04-B715-49EF-B4B4-3B2B952EC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D51D2-F9B6-4BCD-87CA-0F9E8F5FD703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8E966B-ACE5-4CFF-ADC6-FAC096333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C908ED-EA15-4372-92C6-7B059009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4FAE8-73B4-4F73-B617-26013C8460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827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43B3-681E-494C-84A0-E416A63E9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EDD095-811B-4D7F-81E6-12FFFD539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D51D2-F9B6-4BCD-87CA-0F9E8F5FD703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713F25-B01D-4E18-ADBB-9EF06F182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931AB3-AD28-4F6C-B257-E3347C96F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4FAE8-73B4-4F73-B617-26013C8460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3586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BEF5C9-3D9B-45FD-8341-8C82194AC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D51D2-F9B6-4BCD-87CA-0F9E8F5FD703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AAE69-0B02-4D0E-855D-208D915FB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CA103-BE96-4AC1-A8A5-9BF549350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4FAE8-73B4-4F73-B617-26013C8460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8547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E530D-C6C4-4C9E-B830-93C2A0311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56023-7E2A-4F6F-BD90-7402BEA6D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674DE7-9587-4A8F-AA03-93E3103A1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BA034-2E46-4B2E-80A9-55F66FB19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D51D2-F9B6-4BCD-87CA-0F9E8F5FD703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5910B-0617-4DFF-A857-4AC9235F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B55AC-3439-445F-8EEF-D61A06E4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4FAE8-73B4-4F73-B617-26013C8460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65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46901-CF85-4857-B846-BF2C22180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BC6D08-A30E-42C6-B323-A160E03B3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0D686-94EF-448C-BED9-094DFA1E21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4DFB8-092A-4B04-BDF9-AC44291DA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D51D2-F9B6-4BCD-87CA-0F9E8F5FD703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565D5-2D43-4CC1-B5BA-DA0889311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1CB89-581E-43B2-A9A8-F938FAF6A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4FAE8-73B4-4F73-B617-26013C8460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9534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2762-91E7-47CE-AFAE-BB55FDFF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85109E-7F9E-444B-844C-617C48B4A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62A52-7E06-4075-89A1-EA0485074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D51D2-F9B6-4BCD-87CA-0F9E8F5FD703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7B42-A670-465A-9096-943A7606F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F27D5-686A-4BC3-B3BA-1C095D2B8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4FAE8-73B4-4F73-B617-26013C8460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921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871D0F-FF14-4C9A-9545-DE315A646C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8F68F1-C39C-41E5-BB30-9B78AF28D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940F1-F06B-470A-B201-4C3AC88CA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D51D2-F9B6-4BCD-87CA-0F9E8F5FD703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ACD69-010C-4D50-B6C0-30D2B8B1D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497DF-509F-4852-AE76-9591DF0BB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4FAE8-73B4-4F73-B617-26013C8460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0812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CA008C-F6B0-489D-B467-06F58EBD9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29AA5-7FE5-4F7F-A042-D358919BF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18611-F4F7-4E84-8965-AB09355843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D51D2-F9B6-4BCD-87CA-0F9E8F5FD703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691B8-8834-40D6-9A4E-8E29C623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3550C-4A8F-4F94-924F-BDDDA81A0C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74FAE8-73B4-4F73-B617-26013C8460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7650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49352"/>
            <a:ext cx="12192000" cy="2239010"/>
            <a:chOff x="0" y="149352"/>
            <a:chExt cx="12192000" cy="2239010"/>
          </a:xfrm>
        </p:grpSpPr>
        <p:sp>
          <p:nvSpPr>
            <p:cNvPr id="3" name="object 3"/>
            <p:cNvSpPr/>
            <p:nvPr/>
          </p:nvSpPr>
          <p:spPr>
            <a:xfrm>
              <a:off x="0" y="149352"/>
              <a:ext cx="12192000" cy="2124710"/>
            </a:xfrm>
            <a:custGeom>
              <a:avLst/>
              <a:gdLst/>
              <a:ahLst/>
              <a:cxnLst/>
              <a:rect l="l" t="t" r="r" b="b"/>
              <a:pathLst>
                <a:path w="12192000" h="2124710">
                  <a:moveTo>
                    <a:pt x="12192000" y="0"/>
                  </a:moveTo>
                  <a:lnTo>
                    <a:pt x="0" y="0"/>
                  </a:lnTo>
                  <a:lnTo>
                    <a:pt x="0" y="2124456"/>
                  </a:lnTo>
                  <a:lnTo>
                    <a:pt x="12192000" y="2124456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9DC3E6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05740"/>
              <a:ext cx="2581655" cy="2182367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8739" y="4186554"/>
            <a:ext cx="8484236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400" dirty="0">
                <a:latin typeface="Times New Roman"/>
                <a:cs typeface="Times New Roman"/>
              </a:rPr>
              <a:t>Course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COST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210</a:t>
            </a:r>
            <a:r>
              <a:rPr lang="en-US" sz="2400" dirty="0">
                <a:latin typeface="Times New Roman"/>
                <a:cs typeface="Times New Roman"/>
              </a:rPr>
              <a:t>5</a:t>
            </a:r>
            <a:r>
              <a:rPr sz="2400" dirty="0">
                <a:latin typeface="Times New Roman"/>
                <a:cs typeface="Times New Roman"/>
              </a:rPr>
              <a:t>3</a:t>
            </a: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400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urse Na</a:t>
            </a:r>
            <a:r>
              <a:rPr sz="2400" spc="-2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Object Oriented Programming </a:t>
            </a:r>
            <a:r>
              <a:rPr sz="2400" dirty="0">
                <a:latin typeface="Times New Roman"/>
                <a:cs typeface="Times New Roman"/>
              </a:rPr>
              <a:t>(H</a:t>
            </a:r>
            <a:r>
              <a:rPr sz="2400" spc="-5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-22/23)</a:t>
            </a: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400" dirty="0">
                <a:latin typeface="Times New Roman"/>
                <a:cs typeface="Times New Roman"/>
              </a:rPr>
              <a:t>Student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Number 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HS/2021/0051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50260" y="430529"/>
            <a:ext cx="8105140" cy="1543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Times New Roman"/>
                <a:cs typeface="Times New Roman"/>
              </a:rPr>
              <a:t>Department</a:t>
            </a:r>
            <a:r>
              <a:rPr sz="2800" b="1" spc="3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of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Industrial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Management</a:t>
            </a:r>
            <a:endParaRPr sz="2800">
              <a:latin typeface="Times New Roman"/>
              <a:cs typeface="Times New Roman"/>
            </a:endParaRPr>
          </a:p>
          <a:p>
            <a:pPr marL="12700" marR="5292090">
              <a:lnSpc>
                <a:spcPct val="100000"/>
              </a:lnSpc>
              <a:spcBef>
                <a:spcPts val="15"/>
              </a:spcBef>
            </a:pPr>
            <a:r>
              <a:rPr sz="2400" dirty="0">
                <a:latin typeface="Times New Roman"/>
                <a:cs typeface="Times New Roman"/>
              </a:rPr>
              <a:t>Faculty </a:t>
            </a:r>
            <a:r>
              <a:rPr sz="2400" spc="-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Science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University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Kelaniya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20"/>
              </a:lnSpc>
            </a:pPr>
            <a:r>
              <a:rPr sz="2400" dirty="0">
                <a:latin typeface="Times New Roman"/>
                <a:cs typeface="Times New Roman"/>
              </a:rPr>
              <a:t>Centre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Excellence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Management</a:t>
            </a:r>
            <a:r>
              <a:rPr sz="2400" dirty="0">
                <a:latin typeface="Times New Roman"/>
                <a:cs typeface="Times New Roman"/>
              </a:rPr>
              <a:t> 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Information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Technology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81655" y="310895"/>
            <a:ext cx="0" cy="1730375"/>
          </a:xfrm>
          <a:custGeom>
            <a:avLst/>
            <a:gdLst/>
            <a:ahLst/>
            <a:cxnLst/>
            <a:rect l="l" t="t" r="r" b="b"/>
            <a:pathLst>
              <a:path h="1730375">
                <a:moveTo>
                  <a:pt x="0" y="0"/>
                </a:moveTo>
                <a:lnTo>
                  <a:pt x="0" y="1729993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93227" y="2639120"/>
            <a:ext cx="880554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latin typeface="Times New Roman"/>
                <a:cs typeface="Times New Roman"/>
              </a:rPr>
              <a:t>Assignment</a:t>
            </a:r>
            <a:r>
              <a:rPr sz="4800" b="1" spc="-25" dirty="0">
                <a:latin typeface="Times New Roman"/>
                <a:cs typeface="Times New Roman"/>
              </a:rPr>
              <a:t> </a:t>
            </a:r>
            <a:r>
              <a:rPr lang="en-US" sz="4800" b="1" spc="-5" dirty="0">
                <a:latin typeface="Times New Roman"/>
                <a:cs typeface="Times New Roman"/>
              </a:rPr>
              <a:t> </a:t>
            </a:r>
            <a:r>
              <a:rPr sz="4800" b="1" spc="-5" dirty="0">
                <a:latin typeface="Times New Roman"/>
                <a:cs typeface="Times New Roman"/>
              </a:rPr>
              <a:t>-</a:t>
            </a:r>
            <a:r>
              <a:rPr lang="en-US" sz="4800" b="1" spc="-5" dirty="0">
                <a:latin typeface="Times New Roman"/>
                <a:cs typeface="Times New Roman"/>
              </a:rPr>
              <a:t> </a:t>
            </a:r>
            <a:r>
              <a:rPr sz="4800" b="1" spc="-5" dirty="0">
                <a:latin typeface="Times New Roman"/>
                <a:cs typeface="Times New Roman"/>
              </a:rPr>
              <a:t>Report</a:t>
            </a:r>
            <a:endParaRPr sz="4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E1C609-1956-4AB2-9D6C-257ACA1F86C2}"/>
              </a:ext>
            </a:extLst>
          </p:cNvPr>
          <p:cNvSpPr txBox="1"/>
          <p:nvPr/>
        </p:nvSpPr>
        <p:spPr>
          <a:xfrm>
            <a:off x="0" y="1533525"/>
            <a:ext cx="12192000" cy="1924050"/>
          </a:xfrm>
          <a:prstGeom prst="rect">
            <a:avLst/>
          </a:prstGeom>
          <a:solidFill>
            <a:schemeClr val="accent6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900B37-C158-49D9-922A-7B392F3D657A}"/>
              </a:ext>
            </a:extLst>
          </p:cNvPr>
          <p:cNvSpPr txBox="1"/>
          <p:nvPr/>
        </p:nvSpPr>
        <p:spPr>
          <a:xfrm>
            <a:off x="2233612" y="3845093"/>
            <a:ext cx="77247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tabLst>
                <a:tab pos="2865755" algn="ctr"/>
                <a:tab pos="5731510" algn="r"/>
              </a:tabLst>
            </a:pPr>
            <a:r>
              <a:rPr lang="en-GB" sz="1800" b="1" dirty="0">
                <a:effectLst/>
                <a:latin typeface="Bahnschrift SemiBold" panose="020B0502040204020203" pitchFamily="34" charset="0"/>
                <a:ea typeface="Yu Mincho" panose="02020400000000000000" pitchFamily="18" charset="-128"/>
                <a:cs typeface="Iskoola Pota" panose="020B0502040204020203" pitchFamily="34" charset="0"/>
              </a:rPr>
              <a:t>B</a:t>
            </a:r>
            <a:r>
              <a:rPr lang="en-GB" sz="1800" dirty="0">
                <a:effectLst/>
                <a:latin typeface="Bahnschrift SemiBold" panose="020B0502040204020203" pitchFamily="34" charset="0"/>
                <a:ea typeface="Yu Mincho" panose="02020400000000000000" pitchFamily="18" charset="-128"/>
                <a:cs typeface="Iskoola Pota" panose="020B0502040204020203" pitchFamily="34" charset="0"/>
              </a:rPr>
              <a:t> – Beacon : </a:t>
            </a:r>
            <a:r>
              <a:rPr lang="en-GB" sz="1800" dirty="0">
                <a:effectLst/>
                <a:latin typeface="Amasis MT Pro Light" panose="020B0604020202020204" pitchFamily="18" charset="0"/>
                <a:ea typeface="Yu Mincho" panose="02020400000000000000" pitchFamily="18" charset="-128"/>
                <a:cs typeface="Iskoola Pota" panose="020B0502040204020203" pitchFamily="34" charset="0"/>
              </a:rPr>
              <a:t>Refers to a guiding signal, representing the </a:t>
            </a:r>
            <a:r>
              <a:rPr lang="en-GB" sz="1800" dirty="0">
                <a:effectLst/>
                <a:highlight>
                  <a:srgbClr val="FFFF00"/>
                </a:highlight>
                <a:latin typeface="Amasis MT Pro Light" panose="020B0604020202020204" pitchFamily="18" charset="0"/>
                <a:ea typeface="Yu Mincho" panose="02020400000000000000" pitchFamily="18" charset="-128"/>
                <a:cs typeface="Iskoola Pota" panose="020B0502040204020203" pitchFamily="34" charset="0"/>
              </a:rPr>
              <a:t>bus-tracking capability of the system</a:t>
            </a:r>
            <a:r>
              <a:rPr lang="en-GB" sz="1800" dirty="0">
                <a:effectLst/>
                <a:latin typeface="Amasis MT Pro Light" panose="020B0604020202020204" pitchFamily="18" charset="0"/>
                <a:ea typeface="Yu Mincho" panose="02020400000000000000" pitchFamily="18" charset="-128"/>
                <a:cs typeface="Iskoola Pota" panose="020B0502040204020203" pitchFamily="34" charset="0"/>
              </a:rPr>
              <a:t>.</a:t>
            </a:r>
          </a:p>
          <a:p>
            <a:pPr algn="just">
              <a:tabLst>
                <a:tab pos="2865755" algn="ctr"/>
                <a:tab pos="5731510" algn="r"/>
              </a:tabLst>
            </a:pPr>
            <a:r>
              <a:rPr lang="en-GB" sz="1800" dirty="0">
                <a:effectLst/>
                <a:latin typeface="Bahnschrift SemiBold" panose="020B0502040204020203" pitchFamily="34" charset="0"/>
                <a:ea typeface="Yu Mincho" panose="02020400000000000000" pitchFamily="18" charset="-128"/>
                <a:cs typeface="Iskoola Pota" panose="020B0502040204020203" pitchFamily="34" charset="0"/>
              </a:rPr>
              <a:t> </a:t>
            </a:r>
          </a:p>
          <a:p>
            <a:pPr algn="just">
              <a:tabLst>
                <a:tab pos="2865755" algn="ctr"/>
                <a:tab pos="5731510" algn="r"/>
              </a:tabLst>
            </a:pPr>
            <a:r>
              <a:rPr lang="en-GB" sz="1800" b="1" dirty="0">
                <a:effectLst/>
                <a:latin typeface="Bahnschrift SemiBold" panose="020B0502040204020203" pitchFamily="34" charset="0"/>
                <a:ea typeface="Yu Mincho" panose="02020400000000000000" pitchFamily="18" charset="-128"/>
                <a:cs typeface="Iskoola Pota" panose="020B0502040204020203" pitchFamily="34" charset="0"/>
              </a:rPr>
              <a:t>U</a:t>
            </a:r>
            <a:r>
              <a:rPr lang="en-GB" sz="1800" dirty="0">
                <a:effectLst/>
                <a:latin typeface="Bahnschrift SemiBold" panose="020B0502040204020203" pitchFamily="34" charset="0"/>
                <a:ea typeface="Yu Mincho" panose="02020400000000000000" pitchFamily="18" charset="-128"/>
                <a:cs typeface="Iskoola Pota" panose="020B0502040204020203" pitchFamily="34" charset="0"/>
              </a:rPr>
              <a:t> – Utility : </a:t>
            </a:r>
            <a:r>
              <a:rPr lang="en-GB" dirty="0">
                <a:latin typeface="Amasis MT Pro Light" panose="020B0604020202020204" pitchFamily="18" charset="0"/>
                <a:ea typeface="Yu Mincho" panose="02020400000000000000" pitchFamily="18" charset="-128"/>
                <a:cs typeface="Iskoola Pota" panose="020B0502040204020203" pitchFamily="34" charset="0"/>
              </a:rPr>
              <a:t>Emphasizes the usefulness of the system for </a:t>
            </a:r>
            <a:r>
              <a:rPr lang="en-GB" dirty="0">
                <a:highlight>
                  <a:srgbClr val="FFFF00"/>
                </a:highlight>
                <a:latin typeface="Amasis MT Pro Light" panose="020B0604020202020204" pitchFamily="18" charset="0"/>
                <a:ea typeface="Yu Mincho" panose="02020400000000000000" pitchFamily="18" charset="-128"/>
                <a:cs typeface="Iskoola Pota" panose="020B0502040204020203" pitchFamily="34" charset="0"/>
              </a:rPr>
              <a:t>both tracking and ticketing</a:t>
            </a:r>
            <a:r>
              <a:rPr lang="en-GB" dirty="0">
                <a:latin typeface="Amasis MT Pro Light" panose="020B0604020202020204" pitchFamily="18" charset="0"/>
                <a:ea typeface="Yu Mincho" panose="02020400000000000000" pitchFamily="18" charset="-128"/>
                <a:cs typeface="Iskoola Pota" panose="020B0502040204020203" pitchFamily="34" charset="0"/>
              </a:rPr>
              <a:t>.</a:t>
            </a:r>
          </a:p>
          <a:p>
            <a:pPr algn="just">
              <a:tabLst>
                <a:tab pos="2865755" algn="ctr"/>
                <a:tab pos="5731510" algn="r"/>
              </a:tabLst>
            </a:pPr>
            <a:r>
              <a:rPr lang="en-GB" sz="1800" dirty="0">
                <a:effectLst/>
                <a:latin typeface="Bahnschrift SemiBold" panose="020B0502040204020203" pitchFamily="34" charset="0"/>
                <a:ea typeface="Yu Mincho" panose="02020400000000000000" pitchFamily="18" charset="-128"/>
                <a:cs typeface="Iskoola Pota" panose="020B0502040204020203" pitchFamily="34" charset="0"/>
              </a:rPr>
              <a:t> </a:t>
            </a:r>
          </a:p>
          <a:p>
            <a:pPr algn="just">
              <a:tabLst>
                <a:tab pos="2865755" algn="ctr"/>
                <a:tab pos="5731510" algn="r"/>
              </a:tabLst>
            </a:pPr>
            <a:r>
              <a:rPr lang="en-GB" sz="1800" b="1" dirty="0">
                <a:effectLst/>
                <a:latin typeface="Bahnschrift SemiBold" panose="020B0502040204020203" pitchFamily="34" charset="0"/>
                <a:ea typeface="Yu Mincho" panose="02020400000000000000" pitchFamily="18" charset="-128"/>
                <a:cs typeface="Iskoola Pota" panose="020B0502040204020203" pitchFamily="34" charset="0"/>
              </a:rPr>
              <a:t>S</a:t>
            </a:r>
            <a:r>
              <a:rPr lang="en-GB" sz="1800" dirty="0">
                <a:effectLst/>
                <a:latin typeface="Bahnschrift SemiBold" panose="020B0502040204020203" pitchFamily="34" charset="0"/>
                <a:ea typeface="Yu Mincho" panose="02020400000000000000" pitchFamily="18" charset="-128"/>
                <a:cs typeface="Iskoola Pota" panose="020B0502040204020203" pitchFamily="34" charset="0"/>
              </a:rPr>
              <a:t> – System : </a:t>
            </a:r>
            <a:r>
              <a:rPr lang="en-GB" dirty="0">
                <a:latin typeface="Amasis MT Pro Light" panose="020B0604020202020204" pitchFamily="18" charset="0"/>
                <a:ea typeface="Yu Mincho" panose="02020400000000000000" pitchFamily="18" charset="-128"/>
                <a:cs typeface="Iskoola Pota" panose="020B0502040204020203" pitchFamily="34" charset="0"/>
              </a:rPr>
              <a:t>Represents the </a:t>
            </a:r>
            <a:r>
              <a:rPr lang="en-GB" dirty="0">
                <a:highlight>
                  <a:srgbClr val="FFFF00"/>
                </a:highlight>
                <a:latin typeface="Amasis MT Pro Light" panose="020B0604020202020204" pitchFamily="18" charset="0"/>
                <a:ea typeface="Yu Mincho" panose="02020400000000000000" pitchFamily="18" charset="-128"/>
                <a:cs typeface="Iskoola Pota" panose="020B0502040204020203" pitchFamily="34" charset="0"/>
              </a:rPr>
              <a:t>complete, integrated solution for managing transportation needs</a:t>
            </a:r>
            <a:r>
              <a:rPr lang="en-GB" dirty="0">
                <a:latin typeface="Amasis MT Pro Light" panose="020B0604020202020204" pitchFamily="18" charset="0"/>
                <a:ea typeface="Yu Mincho" panose="02020400000000000000" pitchFamily="18" charset="-128"/>
                <a:cs typeface="Iskoola Pota" panose="020B0502040204020203" pitchFamily="34" charset="0"/>
              </a:rPr>
              <a:t>.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954C1-B7DC-4CCC-B324-B3A0050BA5E9}"/>
              </a:ext>
            </a:extLst>
          </p:cNvPr>
          <p:cNvSpPr txBox="1"/>
          <p:nvPr/>
        </p:nvSpPr>
        <p:spPr>
          <a:xfrm>
            <a:off x="1333500" y="1911518"/>
            <a:ext cx="106108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B</a:t>
            </a:r>
            <a:r>
              <a:rPr lang="en-US" sz="6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eacon </a:t>
            </a:r>
            <a:r>
              <a:rPr lang="en-US" sz="60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U</a:t>
            </a:r>
            <a:r>
              <a:rPr lang="en-US" sz="6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tility </a:t>
            </a:r>
            <a:r>
              <a:rPr lang="en-US" sz="60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S</a:t>
            </a:r>
            <a:r>
              <a:rPr lang="en-US" sz="6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ystem (</a:t>
            </a:r>
            <a:r>
              <a:rPr lang="en-US" sz="60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BUS</a:t>
            </a:r>
            <a:r>
              <a:rPr lang="en-US" sz="6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)</a:t>
            </a:r>
            <a:endParaRPr lang="en-GB" sz="6000" dirty="0">
              <a:solidFill>
                <a:schemeClr val="accent6">
                  <a:lumMod val="20000"/>
                  <a:lumOff val="80000"/>
                </a:schemeClr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730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E1C609-1956-4AB2-9D6C-257ACA1F86C2}"/>
              </a:ext>
            </a:extLst>
          </p:cNvPr>
          <p:cNvSpPr txBox="1"/>
          <p:nvPr/>
        </p:nvSpPr>
        <p:spPr>
          <a:xfrm>
            <a:off x="0" y="266700"/>
            <a:ext cx="12192000" cy="523220"/>
          </a:xfrm>
          <a:prstGeom prst="rect">
            <a:avLst/>
          </a:prstGeom>
          <a:solidFill>
            <a:schemeClr val="accent6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954C1-B7DC-4CCC-B324-B3A0050BA5E9}"/>
              </a:ext>
            </a:extLst>
          </p:cNvPr>
          <p:cNvSpPr txBox="1"/>
          <p:nvPr/>
        </p:nvSpPr>
        <p:spPr>
          <a:xfrm>
            <a:off x="3707606" y="177968"/>
            <a:ext cx="4776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B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eacon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U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tility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S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ystem</a:t>
            </a:r>
            <a:endParaRPr lang="en-GB" sz="3600" dirty="0">
              <a:solidFill>
                <a:schemeClr val="accent6">
                  <a:lumMod val="20000"/>
                  <a:lumOff val="8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ABBC02-9779-492F-B213-7ADFB21A31DD}"/>
              </a:ext>
            </a:extLst>
          </p:cNvPr>
          <p:cNvSpPr txBox="1"/>
          <p:nvPr/>
        </p:nvSpPr>
        <p:spPr>
          <a:xfrm>
            <a:off x="261937" y="913031"/>
            <a:ext cx="11768138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Bahnschrift SemiBold" panose="020B0502040204020203" pitchFamily="34" charset="0"/>
              </a:rPr>
              <a:t>Presentation Content</a:t>
            </a:r>
          </a:p>
          <a:p>
            <a:pPr marL="2114550" lvl="3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masis MT Pro Light" panose="020B0604020202020204" pitchFamily="18" charset="0"/>
              </a:rPr>
              <a:t>Problem Explanation</a:t>
            </a:r>
          </a:p>
          <a:p>
            <a:pPr marL="2114550" lvl="3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masis MT Pro Light" panose="020B0604020202020204" pitchFamily="18" charset="0"/>
              </a:rPr>
              <a:t>Purpose</a:t>
            </a:r>
          </a:p>
          <a:p>
            <a:pPr marL="2114550" lvl="3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masis MT Pro Light" panose="020B0604020202020204" pitchFamily="18" charset="0"/>
              </a:rPr>
              <a:t>DB Explanation</a:t>
            </a:r>
          </a:p>
          <a:p>
            <a:pPr marL="2114550" lvl="3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masis MT Pro Light" panose="020B0604020202020204" pitchFamily="18" charset="0"/>
              </a:rPr>
              <a:t>CRUD Operations</a:t>
            </a:r>
          </a:p>
          <a:p>
            <a:pPr marL="2114550" lvl="3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masis MT Pro Light" panose="020B0604020202020204" pitchFamily="18" charset="0"/>
              </a:rPr>
              <a:t>Interfaces Explanation</a:t>
            </a:r>
          </a:p>
          <a:p>
            <a:pPr marL="2114550" lvl="3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masis MT Pro Light" panose="020B0604020202020204" pitchFamily="18" charset="0"/>
              </a:rPr>
              <a:t>User Roles</a:t>
            </a:r>
          </a:p>
          <a:p>
            <a:pPr marL="2114550" lvl="3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masis MT Pro Light" panose="020B0604020202020204" pitchFamily="18" charset="0"/>
              </a:rPr>
              <a:t>Use of Main OOP Concepts</a:t>
            </a:r>
          </a:p>
          <a:p>
            <a:pPr marL="2114550" lvl="3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masis MT Pro Light" panose="020B0604020202020204" pitchFamily="18" charset="0"/>
              </a:rPr>
              <a:t>Exception Handling</a:t>
            </a:r>
          </a:p>
          <a:p>
            <a:pPr marL="2114550" lvl="3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masis MT Pro Light" panose="020B0604020202020204" pitchFamily="18" charset="0"/>
              </a:rPr>
              <a:t>Features to be add newly (not implemented)</a:t>
            </a:r>
          </a:p>
          <a:p>
            <a:pPr marL="2114550" lvl="3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masis MT Pro Light" panose="020B0604020202020204" pitchFamily="18" charset="0"/>
              </a:rPr>
              <a:t>Conclusion </a:t>
            </a:r>
          </a:p>
          <a:p>
            <a:pPr marL="1200150" lvl="1" indent="-742950">
              <a:buFont typeface="+mj-lt"/>
              <a:buAutoNum type="arabicPeriod"/>
            </a:pPr>
            <a:endParaRPr lang="en-US" sz="3200" dirty="0">
              <a:latin typeface="Bahnschrift SemiBold" panose="020B0502040204020203" pitchFamily="34" charset="0"/>
            </a:endParaRPr>
          </a:p>
          <a:p>
            <a:pPr marL="1200150" lvl="1" indent="-742950">
              <a:buFont typeface="+mj-lt"/>
              <a:buAutoNum type="arabicPeriod"/>
            </a:pPr>
            <a:endParaRPr lang="en-US" sz="3200" dirty="0">
              <a:latin typeface="Bahnschrift SemiBold" panose="020B0502040204020203" pitchFamily="34" charset="0"/>
            </a:endParaRPr>
          </a:p>
          <a:p>
            <a:pPr marL="1200150" lvl="1" indent="-742950">
              <a:buFont typeface="+mj-lt"/>
              <a:buAutoNum type="arabicPeriod"/>
            </a:pPr>
            <a:endParaRPr lang="en-US" sz="3200" dirty="0">
              <a:latin typeface="Bahnschrift SemiBold" panose="020B0502040204020203" pitchFamily="34" charset="0"/>
            </a:endParaRPr>
          </a:p>
          <a:p>
            <a:pPr marL="1200150" lvl="1" indent="-742950">
              <a:buFont typeface="+mj-lt"/>
              <a:buAutoNum type="arabicPeriod"/>
            </a:pPr>
            <a:endParaRPr lang="en-US" sz="3200" dirty="0">
              <a:latin typeface="Bahnschrift SemiBold" panose="020B0502040204020203" pitchFamily="34" charset="0"/>
            </a:endParaRPr>
          </a:p>
          <a:p>
            <a:pPr lvl="3"/>
            <a:r>
              <a:rPr lang="en-US" sz="3200" dirty="0">
                <a:latin typeface="Amasis MT Pro Light" panose="020B0604020202020204" pitchFamily="18" charset="0"/>
              </a:rPr>
              <a:t>		</a:t>
            </a:r>
            <a:endParaRPr lang="en-US" sz="2400" dirty="0">
              <a:latin typeface="Amasis MT Pro Light" panose="020B0604020202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276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E1C609-1956-4AB2-9D6C-257ACA1F86C2}"/>
              </a:ext>
            </a:extLst>
          </p:cNvPr>
          <p:cNvSpPr txBox="1"/>
          <p:nvPr/>
        </p:nvSpPr>
        <p:spPr>
          <a:xfrm>
            <a:off x="0" y="266700"/>
            <a:ext cx="12192000" cy="523220"/>
          </a:xfrm>
          <a:prstGeom prst="rect">
            <a:avLst/>
          </a:prstGeom>
          <a:solidFill>
            <a:schemeClr val="accent6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954C1-B7DC-4CCC-B324-B3A0050BA5E9}"/>
              </a:ext>
            </a:extLst>
          </p:cNvPr>
          <p:cNvSpPr txBox="1"/>
          <p:nvPr/>
        </p:nvSpPr>
        <p:spPr>
          <a:xfrm>
            <a:off x="3707606" y="177968"/>
            <a:ext cx="4776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B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eacon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U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tility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S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ystem</a:t>
            </a:r>
            <a:endParaRPr lang="en-GB" sz="3600" dirty="0">
              <a:solidFill>
                <a:schemeClr val="accent6">
                  <a:lumMod val="20000"/>
                  <a:lumOff val="8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ABBC02-9779-492F-B213-7ADFB21A31DD}"/>
              </a:ext>
            </a:extLst>
          </p:cNvPr>
          <p:cNvSpPr txBox="1"/>
          <p:nvPr/>
        </p:nvSpPr>
        <p:spPr>
          <a:xfrm>
            <a:off x="261937" y="913031"/>
            <a:ext cx="1085373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Bahnschrift SemiBold" panose="020B0502040204020203" pitchFamily="34" charset="0"/>
              </a:rPr>
              <a:t>Problem Explanation</a:t>
            </a:r>
          </a:p>
          <a:p>
            <a:pPr lvl="2" algn="just">
              <a:lnSpc>
                <a:spcPct val="150000"/>
              </a:lnSpc>
            </a:pPr>
            <a:r>
              <a:rPr lang="en-US" sz="2000" dirty="0">
                <a:latin typeface="Amasis MT Pro Light" panose="020B0604020202020204" pitchFamily="18" charset="0"/>
              </a:rPr>
              <a:t> </a:t>
            </a:r>
            <a:r>
              <a:rPr lang="en-US" sz="2400" dirty="0">
                <a:latin typeface="Amasis MT Pro Light" panose="020B0604020202020204" pitchFamily="18" charset="0"/>
              </a:rPr>
              <a:t>In the current world, there is a significant </a:t>
            </a:r>
            <a:r>
              <a:rPr lang="en-US" sz="2400" dirty="0">
                <a:solidFill>
                  <a:srgbClr val="FF0000"/>
                </a:solidFill>
                <a:latin typeface="Amasis MT Pro Light" panose="020B0604020202020204" pitchFamily="18" charset="0"/>
              </a:rPr>
              <a:t>problem</a:t>
            </a:r>
            <a:r>
              <a:rPr lang="en-US" sz="2400" dirty="0">
                <a:latin typeface="Amasis MT Pro Light" panose="020B0604020202020204" pitchFamily="18" charset="0"/>
              </a:rPr>
              <a:t> with </a:t>
            </a:r>
            <a:r>
              <a:rPr lang="en-US" sz="2400" dirty="0">
                <a:solidFill>
                  <a:srgbClr val="FF0000"/>
                </a:solidFill>
                <a:latin typeface="Amasis MT Pro Light" panose="020B0604020202020204" pitchFamily="18" charset="0"/>
              </a:rPr>
              <a:t>people using buses for transportation</a:t>
            </a:r>
            <a:r>
              <a:rPr lang="en-US" sz="2400" dirty="0">
                <a:latin typeface="Amasis MT Pro Light" panose="020B0604020202020204" pitchFamily="18" charset="0"/>
              </a:rPr>
              <a:t>. Sometimes,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masis MT Pro Light" panose="020B0604020202020204" pitchFamily="18" charset="0"/>
              </a:rPr>
              <a:t>ticket prices are suddenly increased without alerting passengers</a:t>
            </a:r>
            <a:r>
              <a:rPr lang="en-US" sz="2400" dirty="0">
                <a:latin typeface="Amasis MT Pro Light" panose="020B0604020202020204" pitchFamily="18" charset="0"/>
              </a:rPr>
              <a:t> And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masis MT Pro Light" panose="020B0604020202020204" pitchFamily="18" charset="0"/>
              </a:rPr>
              <a:t>illegal ticket prices</a:t>
            </a:r>
            <a:r>
              <a:rPr lang="en-US" sz="2400" dirty="0">
                <a:latin typeface="Amasis MT Pro Light" panose="020B0604020202020204" pitchFamily="18" charset="0"/>
              </a:rPr>
              <a:t> are calculated. Additionally passengers often do not know the bus arrival times at their current stop,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masis MT Pro Light" panose="020B0604020202020204" pitchFamily="18" charset="0"/>
              </a:rPr>
              <a:t>leading to missed buses</a:t>
            </a:r>
            <a:r>
              <a:rPr lang="en-US" sz="2400" dirty="0">
                <a:latin typeface="Amasis MT Pro Light" panose="020B0604020202020204" pitchFamily="18" charset="0"/>
              </a:rPr>
              <a:t>. On the other </a:t>
            </a:r>
            <a:r>
              <a:rPr lang="en-US" sz="2400" dirty="0" err="1">
                <a:latin typeface="Amasis MT Pro Light" panose="020B0604020202020204" pitchFamily="18" charset="0"/>
              </a:rPr>
              <a:t>hand,when</a:t>
            </a:r>
            <a:r>
              <a:rPr lang="en-US" sz="2400" dirty="0">
                <a:latin typeface="Amasis MT Pro Light" panose="020B0604020202020204" pitchFamily="18" charset="0"/>
              </a:rPr>
              <a:t> planning a trip, finding buses across multiple platforms can be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masis MT Pro Light" panose="020B0604020202020204" pitchFamily="18" charset="0"/>
              </a:rPr>
              <a:t>time-consuming</a:t>
            </a:r>
            <a:r>
              <a:rPr lang="en-US" sz="2400" dirty="0">
                <a:latin typeface="Amasis MT Pro Light" panose="020B0604020202020204" pitchFamily="18" charset="0"/>
              </a:rPr>
              <a:t>. this project solution addresses all these issues effectively.</a:t>
            </a:r>
            <a:endParaRPr lang="en-US" dirty="0">
              <a:latin typeface="Amasis MT Pro Light" panose="020B0604020202020204" pitchFamily="18" charset="0"/>
            </a:endParaRPr>
          </a:p>
          <a:p>
            <a:pPr marL="1200150" lvl="1" indent="-742950" algn="just">
              <a:buFont typeface="+mj-lt"/>
              <a:buAutoNum type="arabicPeriod"/>
            </a:pPr>
            <a:endParaRPr lang="en-US" sz="2800" dirty="0">
              <a:latin typeface="Bahnschrift SemiBold" panose="020B0502040204020203" pitchFamily="34" charset="0"/>
            </a:endParaRPr>
          </a:p>
          <a:p>
            <a:pPr marL="1200150" lvl="1" indent="-742950">
              <a:buFont typeface="+mj-lt"/>
              <a:buAutoNum type="arabicPeriod"/>
            </a:pPr>
            <a:endParaRPr lang="en-US" sz="2800" dirty="0">
              <a:latin typeface="Bahnschrift SemiBold" panose="020B0502040204020203" pitchFamily="34" charset="0"/>
            </a:endParaRPr>
          </a:p>
          <a:p>
            <a:pPr lvl="3"/>
            <a:r>
              <a:rPr lang="en-US" sz="2800" dirty="0">
                <a:latin typeface="Amasis MT Pro Light" panose="020B0604020202020204" pitchFamily="18" charset="0"/>
              </a:rPr>
              <a:t>		</a:t>
            </a:r>
            <a:endParaRPr lang="en-US" sz="2400" dirty="0">
              <a:latin typeface="Amasis MT Pro Light" panose="020B0604020202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282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E1C609-1956-4AB2-9D6C-257ACA1F86C2}"/>
              </a:ext>
            </a:extLst>
          </p:cNvPr>
          <p:cNvSpPr txBox="1"/>
          <p:nvPr/>
        </p:nvSpPr>
        <p:spPr>
          <a:xfrm>
            <a:off x="0" y="266700"/>
            <a:ext cx="12192000" cy="523220"/>
          </a:xfrm>
          <a:prstGeom prst="rect">
            <a:avLst/>
          </a:prstGeom>
          <a:solidFill>
            <a:schemeClr val="accent6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954C1-B7DC-4CCC-B324-B3A0050BA5E9}"/>
              </a:ext>
            </a:extLst>
          </p:cNvPr>
          <p:cNvSpPr txBox="1"/>
          <p:nvPr/>
        </p:nvSpPr>
        <p:spPr>
          <a:xfrm>
            <a:off x="3707606" y="177968"/>
            <a:ext cx="4776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B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eacon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U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tility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S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ystem</a:t>
            </a:r>
            <a:endParaRPr lang="en-GB" sz="3600" dirty="0">
              <a:solidFill>
                <a:schemeClr val="accent6">
                  <a:lumMod val="20000"/>
                  <a:lumOff val="8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ABBC02-9779-492F-B213-7ADFB21A31DD}"/>
              </a:ext>
            </a:extLst>
          </p:cNvPr>
          <p:cNvSpPr txBox="1"/>
          <p:nvPr/>
        </p:nvSpPr>
        <p:spPr>
          <a:xfrm>
            <a:off x="423862" y="878652"/>
            <a:ext cx="11368088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Bahnschrift SemiBold" panose="020B0502040204020203" pitchFamily="34" charset="0"/>
              </a:rPr>
              <a:t>1. Purpose :</a:t>
            </a:r>
          </a:p>
          <a:p>
            <a:endParaRPr lang="en-GB" sz="2800" dirty="0">
              <a:latin typeface="Bahnschrift SemiBold" panose="020B0502040204020203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2400" dirty="0">
                <a:latin typeface="Amasis MT Pro Light" panose="020B0604020202020204" pitchFamily="18" charset="0"/>
              </a:rPr>
              <a:t>This </a:t>
            </a:r>
            <a:r>
              <a:rPr lang="en-GB" sz="2400" dirty="0" err="1">
                <a:latin typeface="Amasis MT Pro Light" panose="020B0604020202020204" pitchFamily="18" charset="0"/>
              </a:rPr>
              <a:t>softwere</a:t>
            </a:r>
            <a:r>
              <a:rPr lang="en-GB" sz="2400" dirty="0">
                <a:latin typeface="Amasis MT Pro Light" panose="020B0604020202020204" pitchFamily="18" charset="0"/>
              </a:rPr>
              <a:t> owned by a private bus transportation company. By using this application </a:t>
            </a:r>
            <a:r>
              <a:rPr lang="en-US" sz="2400" dirty="0">
                <a:latin typeface="Amasis MT Pro Light" panose="020B0604020202020204" pitchFamily="18" charset="0"/>
              </a:rPr>
              <a:t>registered users can check,  </a:t>
            </a:r>
          </a:p>
          <a:p>
            <a:pPr marL="2743200" lvl="5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masis MT Pro Light" panose="020B0604020202020204" pitchFamily="18" charset="0"/>
              </a:rPr>
              <a:t>Bus routes</a:t>
            </a:r>
          </a:p>
          <a:p>
            <a:pPr marL="2743200" lvl="5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masis MT Pro Light" panose="020B0604020202020204" pitchFamily="18" charset="0"/>
              </a:rPr>
              <a:t>Bus available times</a:t>
            </a:r>
          </a:p>
          <a:p>
            <a:pPr marL="2743200" lvl="5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masis MT Pro Light" panose="020B0604020202020204" pitchFamily="18" charset="0"/>
              </a:rPr>
              <a:t>Ticket prices between start &amp; stop destinations</a:t>
            </a:r>
          </a:p>
          <a:p>
            <a:pPr marL="2743200" lvl="5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masis MT Pro Light" panose="020B0604020202020204" pitchFamily="18" charset="0"/>
              </a:rPr>
              <a:t>Bus arrival time to user nearest halt &amp; stop destination</a:t>
            </a:r>
          </a:p>
          <a:p>
            <a:pPr marL="2743200" lvl="5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masis MT Pro Light" panose="020B0604020202020204" pitchFamily="18" charset="0"/>
              </a:rPr>
              <a:t>Bus booking option for tours.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534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E1C609-1956-4AB2-9D6C-257ACA1F86C2}"/>
              </a:ext>
            </a:extLst>
          </p:cNvPr>
          <p:cNvSpPr txBox="1"/>
          <p:nvPr/>
        </p:nvSpPr>
        <p:spPr>
          <a:xfrm>
            <a:off x="0" y="266700"/>
            <a:ext cx="12192000" cy="523220"/>
          </a:xfrm>
          <a:prstGeom prst="rect">
            <a:avLst/>
          </a:prstGeom>
          <a:solidFill>
            <a:schemeClr val="accent6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954C1-B7DC-4CCC-B324-B3A0050BA5E9}"/>
              </a:ext>
            </a:extLst>
          </p:cNvPr>
          <p:cNvSpPr txBox="1"/>
          <p:nvPr/>
        </p:nvSpPr>
        <p:spPr>
          <a:xfrm>
            <a:off x="3707606" y="177968"/>
            <a:ext cx="4776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B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eacon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U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tility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S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ystem</a:t>
            </a:r>
            <a:endParaRPr lang="en-GB" sz="3600" dirty="0">
              <a:solidFill>
                <a:schemeClr val="accent6">
                  <a:lumMod val="20000"/>
                  <a:lumOff val="8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ABBC02-9779-492F-B213-7ADFB21A31DD}"/>
              </a:ext>
            </a:extLst>
          </p:cNvPr>
          <p:cNvSpPr txBox="1"/>
          <p:nvPr/>
        </p:nvSpPr>
        <p:spPr>
          <a:xfrm>
            <a:off x="261937" y="913031"/>
            <a:ext cx="11368088" cy="5329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Bahnschrift SemiBold" panose="020B0502040204020203" pitchFamily="34" charset="0"/>
              </a:rPr>
              <a:t>2. DB Explanation : </a:t>
            </a:r>
            <a:endParaRPr lang="en-US" sz="2400" dirty="0">
              <a:latin typeface="Amasis MT Pro Light" panose="020B0604020202020204" pitchFamily="18" charset="0"/>
            </a:endParaRP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masis MT Pro Light" panose="020B0604020202020204" pitchFamily="18" charset="0"/>
              </a:rPr>
              <a:t>Database name – </a:t>
            </a:r>
            <a:r>
              <a:rPr lang="en-US" sz="2000" b="1" dirty="0">
                <a:latin typeface="Amasis MT Pro Light" panose="020B0604020202020204" pitchFamily="18" charset="0"/>
              </a:rPr>
              <a:t>BUS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masis MT Pro Light" panose="020B0604020202020204" pitchFamily="18" charset="0"/>
              </a:rPr>
              <a:t>This database includes mainly </a:t>
            </a:r>
            <a:r>
              <a:rPr lang="en-US" sz="2000" dirty="0">
                <a:highlight>
                  <a:srgbClr val="FFFF00"/>
                </a:highlight>
                <a:latin typeface="Amasis MT Pro Light" panose="020B0604020202020204" pitchFamily="18" charset="0"/>
              </a:rPr>
              <a:t>8</a:t>
            </a:r>
            <a:r>
              <a:rPr lang="en-US" sz="2000" dirty="0">
                <a:latin typeface="Amasis MT Pro Light" panose="020B0604020202020204" pitchFamily="18" charset="0"/>
              </a:rPr>
              <a:t> tables :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Amasis MT Pro Light" panose="020B0604020202020204" pitchFamily="18" charset="0"/>
              </a:rPr>
              <a:t>NORMAL_USER </a:t>
            </a:r>
            <a:r>
              <a:rPr lang="en-US" sz="2000" dirty="0">
                <a:latin typeface="Amasis MT Pro Light" panose="020B0604020202020204" pitchFamily="18" charset="0"/>
              </a:rPr>
              <a:t>– to store newly registered user details.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Amasis MT Pro Light" panose="020B0604020202020204" pitchFamily="18" charset="0"/>
              </a:rPr>
              <a:t>PASSWORD</a:t>
            </a:r>
            <a:r>
              <a:rPr lang="en-US" sz="2000" dirty="0">
                <a:latin typeface="Amasis MT Pro Light" panose="020B0604020202020204" pitchFamily="18" charset="0"/>
              </a:rPr>
              <a:t> – to store user passwords.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Amasis MT Pro Light" panose="020B0604020202020204" pitchFamily="18" charset="0"/>
              </a:rPr>
              <a:t>BUS_INFO </a:t>
            </a:r>
            <a:r>
              <a:rPr lang="en-US" sz="2000" dirty="0">
                <a:latin typeface="Amasis MT Pro Light" panose="020B0604020202020204" pitchFamily="18" charset="0"/>
              </a:rPr>
              <a:t>– this table stored company owned all buses details.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Amasis MT Pro Light" panose="020B0604020202020204" pitchFamily="18" charset="0"/>
              </a:rPr>
              <a:t>TICKET_PRICE</a:t>
            </a:r>
            <a:r>
              <a:rPr lang="en-US" sz="2000" dirty="0">
                <a:latin typeface="Amasis MT Pro Light" panose="020B0604020202020204" pitchFamily="18" charset="0"/>
              </a:rPr>
              <a:t> – to store updated ticket price.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Amasis MT Pro Light" panose="020B0604020202020204" pitchFamily="18" charset="0"/>
              </a:rPr>
              <a:t>STAFF</a:t>
            </a:r>
            <a:r>
              <a:rPr lang="en-US" sz="2000" dirty="0">
                <a:latin typeface="Amasis MT Pro Light" panose="020B0604020202020204" pitchFamily="18" charset="0"/>
              </a:rPr>
              <a:t> -  this table stored staff details.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Amasis MT Pro Light" panose="020B0604020202020204" pitchFamily="18" charset="0"/>
              </a:rPr>
              <a:t>ROUTE_1_TIMES </a:t>
            </a:r>
            <a:r>
              <a:rPr lang="en-US" sz="2000" dirty="0">
                <a:latin typeface="Amasis MT Pro Light" panose="020B0604020202020204" pitchFamily="18" charset="0"/>
              </a:rPr>
              <a:t>– this table stored buses arrival time of each routes each bus halts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Amasis MT Pro Light" panose="020B0604020202020204" pitchFamily="18" charset="0"/>
              </a:rPr>
              <a:t>LOST_ITEMS </a:t>
            </a:r>
            <a:r>
              <a:rPr lang="en-US" sz="2000" dirty="0">
                <a:latin typeface="Amasis MT Pro Light" panose="020B0604020202020204" pitchFamily="18" charset="0"/>
              </a:rPr>
              <a:t>– to store lost item details &amp; item photo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Amasis MT Pro Light" panose="020B0604020202020204" pitchFamily="18" charset="0"/>
              </a:rPr>
              <a:t>BUS_RESERVATIONS </a:t>
            </a:r>
            <a:r>
              <a:rPr lang="en-US" sz="2000" dirty="0">
                <a:latin typeface="Amasis MT Pro Light" panose="020B0604020202020204" pitchFamily="18" charset="0"/>
              </a:rPr>
              <a:t>– to store bus reservations details for tours</a:t>
            </a:r>
            <a:endParaRPr lang="en-US" sz="2200" dirty="0">
              <a:latin typeface="Amasis MT Pro Light" panose="020B0604020202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7504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E1C609-1956-4AB2-9D6C-257ACA1F86C2}"/>
              </a:ext>
            </a:extLst>
          </p:cNvPr>
          <p:cNvSpPr txBox="1"/>
          <p:nvPr/>
        </p:nvSpPr>
        <p:spPr>
          <a:xfrm>
            <a:off x="0" y="266700"/>
            <a:ext cx="12192000" cy="523220"/>
          </a:xfrm>
          <a:prstGeom prst="rect">
            <a:avLst/>
          </a:prstGeom>
          <a:solidFill>
            <a:schemeClr val="accent6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954C1-B7DC-4CCC-B324-B3A0050BA5E9}"/>
              </a:ext>
            </a:extLst>
          </p:cNvPr>
          <p:cNvSpPr txBox="1"/>
          <p:nvPr/>
        </p:nvSpPr>
        <p:spPr>
          <a:xfrm>
            <a:off x="3707606" y="177968"/>
            <a:ext cx="4776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B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eacon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U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tility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S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ystem</a:t>
            </a:r>
            <a:endParaRPr lang="en-GB" sz="3600" dirty="0">
              <a:solidFill>
                <a:schemeClr val="accent6">
                  <a:lumMod val="20000"/>
                  <a:lumOff val="8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ABBC02-9779-492F-B213-7ADFB21A31DD}"/>
              </a:ext>
            </a:extLst>
          </p:cNvPr>
          <p:cNvSpPr txBox="1"/>
          <p:nvPr/>
        </p:nvSpPr>
        <p:spPr>
          <a:xfrm>
            <a:off x="261937" y="913031"/>
            <a:ext cx="11368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Bahnschrift SemiBold" panose="020B0502040204020203" pitchFamily="34" charset="0"/>
              </a:rPr>
              <a:t>3. CRUD Operations : </a:t>
            </a:r>
            <a:endParaRPr lang="en-US" sz="2400" dirty="0">
              <a:latin typeface="Amasis MT Pro Light" panose="020B0604020202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1A0B38-4D6C-418A-8AB6-3C0A4DB3ADB2}"/>
              </a:ext>
            </a:extLst>
          </p:cNvPr>
          <p:cNvSpPr txBox="1"/>
          <p:nvPr/>
        </p:nvSpPr>
        <p:spPr>
          <a:xfrm>
            <a:off x="-1" y="1619250"/>
            <a:ext cx="3050381" cy="52387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62B143-C743-4641-8BAF-8CCC4D820796}"/>
              </a:ext>
            </a:extLst>
          </p:cNvPr>
          <p:cNvSpPr txBox="1"/>
          <p:nvPr/>
        </p:nvSpPr>
        <p:spPr>
          <a:xfrm>
            <a:off x="3050381" y="1619250"/>
            <a:ext cx="2895600" cy="52387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858BED-114B-4338-8299-94130F95AC78}"/>
              </a:ext>
            </a:extLst>
          </p:cNvPr>
          <p:cNvSpPr txBox="1"/>
          <p:nvPr/>
        </p:nvSpPr>
        <p:spPr>
          <a:xfrm>
            <a:off x="5934075" y="1619250"/>
            <a:ext cx="3121819" cy="52387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15B39-AB83-452C-8D71-C68DE07AE793}"/>
              </a:ext>
            </a:extLst>
          </p:cNvPr>
          <p:cNvSpPr txBox="1"/>
          <p:nvPr/>
        </p:nvSpPr>
        <p:spPr>
          <a:xfrm>
            <a:off x="9001125" y="1619250"/>
            <a:ext cx="3190875" cy="52387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688AA3-162B-4811-A067-0BEC093F406E}"/>
              </a:ext>
            </a:extLst>
          </p:cNvPr>
          <p:cNvSpPr txBox="1"/>
          <p:nvPr/>
        </p:nvSpPr>
        <p:spPr>
          <a:xfrm>
            <a:off x="0" y="1559362"/>
            <a:ext cx="12192000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masis MT Pro Light" panose="020B0604020202020204" pitchFamily="18" charset="0"/>
              </a:rPr>
              <a:t>         </a:t>
            </a:r>
            <a:r>
              <a: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masis MT Pro Light" panose="020B0604020202020204" pitchFamily="18" charset="0"/>
              </a:rPr>
              <a:t>CREATE</a:t>
            </a:r>
            <a:r>
              <a:rPr lang="en-US" sz="2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Amasis MT Pro Light" panose="020B0604020202020204" pitchFamily="18" charset="0"/>
              </a:rPr>
              <a:t>                       </a:t>
            </a:r>
            <a:r>
              <a: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masis MT Pro Light" panose="020B0604020202020204" pitchFamily="18" charset="0"/>
              </a:rPr>
              <a:t>READ</a:t>
            </a:r>
            <a:r>
              <a:rPr lang="en-US" sz="2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Amasis MT Pro Light" panose="020B0604020202020204" pitchFamily="18" charset="0"/>
              </a:rPr>
              <a:t>                       </a:t>
            </a:r>
            <a:r>
              <a: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masis MT Pro Light" panose="020B0604020202020204" pitchFamily="18" charset="0"/>
              </a:rPr>
              <a:t>UPDATE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masis MT Pro Light" panose="020B0604020202020204" pitchFamily="18" charset="0"/>
              </a:rPr>
              <a:t> </a:t>
            </a:r>
            <a:r>
              <a:rPr lang="en-US" sz="2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Amasis MT Pro Light" panose="020B0604020202020204" pitchFamily="18" charset="0"/>
              </a:rPr>
              <a:t>                      </a:t>
            </a:r>
            <a:r>
              <a: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masis MT Pro Light" panose="020B0604020202020204" pitchFamily="18" charset="0"/>
              </a:rPr>
              <a:t>DELETE</a:t>
            </a:r>
            <a:endParaRPr lang="en-GB" sz="2400" b="1" dirty="0">
              <a:solidFill>
                <a:schemeClr val="accent6">
                  <a:lumMod val="20000"/>
                  <a:lumOff val="80000"/>
                </a:schemeClr>
              </a:solidFill>
              <a:latin typeface="Amasis MT Pro Light" panose="020B060402020202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3F20F0-D17E-4462-BB3A-36D6DF6E1169}"/>
              </a:ext>
            </a:extLst>
          </p:cNvPr>
          <p:cNvSpPr txBox="1"/>
          <p:nvPr/>
        </p:nvSpPr>
        <p:spPr>
          <a:xfrm>
            <a:off x="76200" y="2124075"/>
            <a:ext cx="2895600" cy="318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masis MT Pro Light" panose="020B0604020202020204" pitchFamily="18" charset="0"/>
              </a:rPr>
              <a:t>New user registration process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masis MT Pro Light" panose="020B0604020202020204" pitchFamily="18" charset="0"/>
              </a:rPr>
              <a:t>Lost item adding process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masis MT Pro Light" panose="020B0604020202020204" pitchFamily="18" charset="0"/>
              </a:rPr>
              <a:t>Bus booking process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GB" dirty="0">
              <a:latin typeface="Amasis MT Pro Light" panose="020B06040202020202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GB" dirty="0">
              <a:latin typeface="Amasis MT Pro Light" panose="020B060402020202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7F49E6-53C6-441C-88DD-751106C1EE08}"/>
              </a:ext>
            </a:extLst>
          </p:cNvPr>
          <p:cNvSpPr txBox="1"/>
          <p:nvPr/>
        </p:nvSpPr>
        <p:spPr>
          <a:xfrm>
            <a:off x="3051572" y="2124075"/>
            <a:ext cx="2895600" cy="5858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>
                <a:latin typeface="Amasis MT Pro Light" panose="020B0604020202020204" pitchFamily="18" charset="0"/>
              </a:rPr>
              <a:t>Password Checking process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>
                <a:latin typeface="Amasis MT Pro Light" panose="020B0604020202020204" pitchFamily="18" charset="0"/>
              </a:rPr>
              <a:t>Ticket price auto calculate process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masis MT Pro Light" panose="020B0604020202020204" pitchFamily="18" charset="0"/>
              </a:rPr>
              <a:t>Available buses &amp; arrival time auto displaying process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masis MT Pro Light" panose="020B0604020202020204" pitchFamily="18" charset="0"/>
              </a:rPr>
              <a:t>Lost item displaying process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masis MT Pro Light" panose="020B0604020202020204" pitchFamily="18" charset="0"/>
              </a:rPr>
              <a:t>Image </a:t>
            </a:r>
            <a:r>
              <a:rPr lang="en-US" dirty="0" err="1">
                <a:latin typeface="Amasis MT Pro Light" panose="020B0604020202020204" pitchFamily="18" charset="0"/>
              </a:rPr>
              <a:t>displaing</a:t>
            </a:r>
            <a:r>
              <a:rPr lang="en-US" dirty="0">
                <a:latin typeface="Amasis MT Pro Light" panose="020B0604020202020204" pitchFamily="18" charset="0"/>
              </a:rPr>
              <a:t> process</a:t>
            </a:r>
            <a:endParaRPr lang="en-GB" dirty="0">
              <a:latin typeface="Amasis MT Pro Light" panose="020B06040202020202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GB" dirty="0">
              <a:latin typeface="Amasis MT Pro Light" panose="020B06040202020202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GB" dirty="0">
              <a:latin typeface="Amasis MT Pro Light" panose="020B06040202020202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GB" dirty="0">
              <a:latin typeface="Amasis MT Pro Light" panose="020B0604020202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6600C4-C27E-4E62-A626-ADBD4361FBEE}"/>
              </a:ext>
            </a:extLst>
          </p:cNvPr>
          <p:cNvSpPr txBox="1"/>
          <p:nvPr/>
        </p:nvSpPr>
        <p:spPr>
          <a:xfrm>
            <a:off x="5945981" y="2124074"/>
            <a:ext cx="2895600" cy="378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masis MT Pro Light" panose="020B0604020202020204" pitchFamily="18" charset="0"/>
              </a:rPr>
              <a:t>T</a:t>
            </a:r>
            <a:r>
              <a:rPr lang="en-GB" dirty="0" err="1">
                <a:latin typeface="Amasis MT Pro Light" panose="020B0604020202020204" pitchFamily="18" charset="0"/>
              </a:rPr>
              <a:t>icket</a:t>
            </a:r>
            <a:r>
              <a:rPr lang="en-GB" dirty="0">
                <a:latin typeface="Amasis MT Pro Light" panose="020B0604020202020204" pitchFamily="18" charset="0"/>
              </a:rPr>
              <a:t> price </a:t>
            </a:r>
            <a:r>
              <a:rPr lang="en-US" dirty="0">
                <a:latin typeface="Amasis MT Pro Light" panose="020B0604020202020204" pitchFamily="18" charset="0"/>
              </a:rPr>
              <a:t>updating process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masis MT Pro Light" panose="020B0604020202020204" pitchFamily="18" charset="0"/>
              </a:rPr>
              <a:t>User details updating process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masis MT Pro Light" panose="020B0604020202020204" pitchFamily="18" charset="0"/>
              </a:rPr>
              <a:t>Password resetting process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dirty="0">
              <a:latin typeface="Amasis MT Pro Light" panose="020B06040202020202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dirty="0">
              <a:latin typeface="Amasis MT Pro Light" panose="020B06040202020202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GB" dirty="0">
              <a:latin typeface="Amasis MT Pro Light" panose="020B060402020202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FB3952-B021-416B-A1F3-3432B3373C4C}"/>
              </a:ext>
            </a:extLst>
          </p:cNvPr>
          <p:cNvSpPr txBox="1"/>
          <p:nvPr/>
        </p:nvSpPr>
        <p:spPr>
          <a:xfrm>
            <a:off x="9042797" y="2124074"/>
            <a:ext cx="2895600" cy="253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masis MT Pro Light" panose="020B0604020202020204" pitchFamily="18" charset="0"/>
              </a:rPr>
              <a:t>User account removing with password process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masis MT Pro Light" panose="020B0604020202020204" pitchFamily="18" charset="0"/>
              </a:rPr>
              <a:t>Automatically removing lost items after 7 days.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dirty="0">
              <a:latin typeface="Amasis MT Pro Light" panose="020B06040202020202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GB" dirty="0">
              <a:latin typeface="Amasis MT Pro Light" panose="020B0604020202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749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E1C609-1956-4AB2-9D6C-257ACA1F86C2}"/>
              </a:ext>
            </a:extLst>
          </p:cNvPr>
          <p:cNvSpPr txBox="1"/>
          <p:nvPr/>
        </p:nvSpPr>
        <p:spPr>
          <a:xfrm>
            <a:off x="0" y="266700"/>
            <a:ext cx="12192000" cy="523220"/>
          </a:xfrm>
          <a:prstGeom prst="rect">
            <a:avLst/>
          </a:prstGeom>
          <a:solidFill>
            <a:schemeClr val="accent6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954C1-B7DC-4CCC-B324-B3A0050BA5E9}"/>
              </a:ext>
            </a:extLst>
          </p:cNvPr>
          <p:cNvSpPr txBox="1"/>
          <p:nvPr/>
        </p:nvSpPr>
        <p:spPr>
          <a:xfrm>
            <a:off x="3707606" y="177968"/>
            <a:ext cx="4776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B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eacon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U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tility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S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ystem</a:t>
            </a:r>
            <a:endParaRPr lang="en-GB" sz="3600" dirty="0">
              <a:solidFill>
                <a:schemeClr val="accent6">
                  <a:lumMod val="20000"/>
                  <a:lumOff val="8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ABBC02-9779-492F-B213-7ADFB21A31DD}"/>
              </a:ext>
            </a:extLst>
          </p:cNvPr>
          <p:cNvSpPr txBox="1"/>
          <p:nvPr/>
        </p:nvSpPr>
        <p:spPr>
          <a:xfrm>
            <a:off x="261937" y="913031"/>
            <a:ext cx="11368088" cy="5395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Bahnschrift SemiBold" panose="020B0502040204020203" pitchFamily="34" charset="0"/>
              </a:rPr>
              <a:t>4. Interfaces Explanation : </a:t>
            </a:r>
          </a:p>
          <a:p>
            <a:endParaRPr lang="en-US" sz="2400" dirty="0">
              <a:latin typeface="Amasis MT Pro Light" panose="020B060402020202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masis MT Pro Light" panose="020B0604020202020204" pitchFamily="18" charset="0"/>
              </a:rPr>
              <a:t>This application includes </a:t>
            </a:r>
            <a:r>
              <a:rPr lang="en-US" sz="2400" dirty="0">
                <a:highlight>
                  <a:srgbClr val="FFFF00"/>
                </a:highlight>
                <a:latin typeface="Amasis MT Pro Light" panose="020B0604020202020204" pitchFamily="18" charset="0"/>
              </a:rPr>
              <a:t>12</a:t>
            </a:r>
            <a:r>
              <a:rPr lang="en-US" sz="2400" dirty="0">
                <a:latin typeface="Amasis MT Pro Light" panose="020B0604020202020204" pitchFamily="18" charset="0"/>
              </a:rPr>
              <a:t> interfaces.</a:t>
            </a:r>
          </a:p>
          <a:p>
            <a:pPr marL="1257300" lvl="2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100" b="1" dirty="0">
                <a:latin typeface="Amasis MT Pro Light" panose="020B0604020202020204" pitchFamily="18" charset="0"/>
              </a:rPr>
              <a:t>ADD_LOST_ITEMS </a:t>
            </a:r>
            <a:r>
              <a:rPr lang="en-US" sz="1100" dirty="0">
                <a:latin typeface="Amasis MT Pro Light" panose="020B0604020202020204" pitchFamily="18" charset="0"/>
              </a:rPr>
              <a:t>– to add lost items .</a:t>
            </a:r>
          </a:p>
          <a:p>
            <a:pPr marL="1257300" lvl="2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100" b="1" dirty="0">
                <a:latin typeface="Amasis MT Pro Light" panose="020B0604020202020204" pitchFamily="18" charset="0"/>
              </a:rPr>
              <a:t>BOOK_BUS </a:t>
            </a:r>
            <a:r>
              <a:rPr lang="en-US" sz="1100" dirty="0">
                <a:latin typeface="Amasis MT Pro Light" panose="020B0604020202020204" pitchFamily="18" charset="0"/>
              </a:rPr>
              <a:t>– to reserve buses for tours.</a:t>
            </a:r>
          </a:p>
          <a:p>
            <a:pPr marL="1257300" lvl="2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100" b="1" dirty="0">
                <a:latin typeface="Amasis MT Pro Light" panose="020B0604020202020204" pitchFamily="18" charset="0"/>
              </a:rPr>
              <a:t>CHECK_BUS </a:t>
            </a:r>
            <a:r>
              <a:rPr lang="en-US" sz="1100" dirty="0">
                <a:latin typeface="Amasis MT Pro Light" panose="020B0604020202020204" pitchFamily="18" charset="0"/>
              </a:rPr>
              <a:t>– to check bus routes, arrival times and ticket price.</a:t>
            </a:r>
          </a:p>
          <a:p>
            <a:pPr marL="1257300" lvl="2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100" b="1" dirty="0">
                <a:latin typeface="Amasis MT Pro Light" panose="020B0604020202020204" pitchFamily="18" charset="0"/>
              </a:rPr>
              <a:t>DASHBOARD </a:t>
            </a:r>
            <a:r>
              <a:rPr lang="en-US" sz="1100" dirty="0">
                <a:latin typeface="Amasis MT Pro Light" panose="020B0604020202020204" pitchFamily="18" charset="0"/>
              </a:rPr>
              <a:t>– this dashboard shows options like </a:t>
            </a:r>
            <a:r>
              <a:rPr lang="en-US" sz="1100" dirty="0" err="1">
                <a:latin typeface="Amasis MT Pro Light" panose="020B0604020202020204" pitchFamily="18" charset="0"/>
              </a:rPr>
              <a:t>book_bus,add</a:t>
            </a:r>
            <a:r>
              <a:rPr lang="en-US" sz="1100" dirty="0">
                <a:latin typeface="Amasis MT Pro Light" panose="020B0604020202020204" pitchFamily="18" charset="0"/>
              </a:rPr>
              <a:t> lost item etc.</a:t>
            </a:r>
          </a:p>
          <a:p>
            <a:pPr marL="1257300" lvl="2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100" b="1" dirty="0" err="1">
                <a:latin typeface="Amasis MT Pro Light" panose="020B0604020202020204" pitchFamily="18" charset="0"/>
              </a:rPr>
              <a:t>DisplayLostItems</a:t>
            </a:r>
            <a:r>
              <a:rPr lang="en-US" sz="1100" b="1" dirty="0">
                <a:latin typeface="Amasis MT Pro Light" panose="020B0604020202020204" pitchFamily="18" charset="0"/>
              </a:rPr>
              <a:t> </a:t>
            </a:r>
            <a:r>
              <a:rPr lang="en-US" sz="1100" dirty="0">
                <a:latin typeface="Amasis MT Pro Light" panose="020B0604020202020204" pitchFamily="18" charset="0"/>
              </a:rPr>
              <a:t>– to display check lost items within 7 days.</a:t>
            </a:r>
          </a:p>
          <a:p>
            <a:pPr marL="1257300" lvl="2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100" b="1" dirty="0" err="1">
                <a:latin typeface="Amasis MT Pro Light" panose="020B0604020202020204" pitchFamily="18" charset="0"/>
              </a:rPr>
              <a:t>DisplayReservations</a:t>
            </a:r>
            <a:r>
              <a:rPr lang="en-US" sz="1100" b="1" dirty="0">
                <a:latin typeface="Amasis MT Pro Light" panose="020B0604020202020204" pitchFamily="18" charset="0"/>
              </a:rPr>
              <a:t> </a:t>
            </a:r>
            <a:r>
              <a:rPr lang="en-US" sz="1100" dirty="0">
                <a:latin typeface="Amasis MT Pro Light" panose="020B0604020202020204" pitchFamily="18" charset="0"/>
              </a:rPr>
              <a:t>– to check bus reservations (staff only).</a:t>
            </a:r>
          </a:p>
          <a:p>
            <a:pPr marL="1257300" lvl="2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100" b="1" dirty="0">
                <a:latin typeface="Amasis MT Pro Light" panose="020B0604020202020204" pitchFamily="18" charset="0"/>
              </a:rPr>
              <a:t>LOGIN </a:t>
            </a:r>
            <a:r>
              <a:rPr lang="en-US" sz="1100" dirty="0">
                <a:latin typeface="Amasis MT Pro Light" panose="020B0604020202020204" pitchFamily="18" charset="0"/>
              </a:rPr>
              <a:t>– to log in to the system.</a:t>
            </a:r>
          </a:p>
          <a:p>
            <a:pPr marL="1257300" lvl="2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100" b="1" dirty="0">
                <a:latin typeface="Amasis MT Pro Light" panose="020B0604020202020204" pitchFamily="18" charset="0"/>
              </a:rPr>
              <a:t>REG_NORMAL__USER </a:t>
            </a:r>
            <a:r>
              <a:rPr lang="en-US" sz="1100" dirty="0">
                <a:latin typeface="Amasis MT Pro Light" panose="020B0604020202020204" pitchFamily="18" charset="0"/>
              </a:rPr>
              <a:t>– to register as a normal user.</a:t>
            </a:r>
          </a:p>
          <a:p>
            <a:pPr marL="1257300" lvl="2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100" b="1" dirty="0" err="1">
                <a:latin typeface="Amasis MT Pro Light" panose="020B0604020202020204" pitchFamily="18" charset="0"/>
              </a:rPr>
              <a:t>Main_Staff_Check</a:t>
            </a:r>
            <a:r>
              <a:rPr lang="en-US" sz="1100" dirty="0">
                <a:latin typeface="Amasis MT Pro Light" panose="020B0604020202020204" pitchFamily="18" charset="0"/>
              </a:rPr>
              <a:t>– to check staff before access.</a:t>
            </a:r>
          </a:p>
          <a:p>
            <a:pPr marL="1257300" lvl="2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100" b="1" dirty="0">
                <a:latin typeface="Amasis MT Pro Light" panose="020B0604020202020204" pitchFamily="18" charset="0"/>
              </a:rPr>
              <a:t>RESET_PASSWORD </a:t>
            </a:r>
            <a:r>
              <a:rPr lang="en-US" sz="1100" dirty="0">
                <a:latin typeface="Amasis MT Pro Light" panose="020B0604020202020204" pitchFamily="18" charset="0"/>
              </a:rPr>
              <a:t>– to reset forgot passwords using NIC.</a:t>
            </a:r>
          </a:p>
          <a:p>
            <a:pPr marL="1257300" lvl="2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100" b="1" dirty="0">
                <a:latin typeface="Amasis MT Pro Light" panose="020B0604020202020204" pitchFamily="18" charset="0"/>
              </a:rPr>
              <a:t>UPDATE_NORMAL_USER_1 </a:t>
            </a:r>
            <a:r>
              <a:rPr lang="en-US" sz="1100" dirty="0">
                <a:latin typeface="Amasis MT Pro Light" panose="020B0604020202020204" pitchFamily="18" charset="0"/>
              </a:rPr>
              <a:t>– to update normal user details.</a:t>
            </a:r>
          </a:p>
          <a:p>
            <a:pPr marL="1257300" lvl="2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100" b="1" dirty="0">
                <a:latin typeface="Amasis MT Pro Light" panose="020B0604020202020204" pitchFamily="18" charset="0"/>
              </a:rPr>
              <a:t>UPDATE_TICKET_PRICE </a:t>
            </a:r>
            <a:r>
              <a:rPr lang="en-US" sz="1100" dirty="0">
                <a:latin typeface="Amasis MT Pro Light" panose="020B0604020202020204" pitchFamily="18" charset="0"/>
              </a:rPr>
              <a:t>– to update new ticket prices (staff only).</a:t>
            </a:r>
            <a:endParaRPr lang="en-US" sz="1400" dirty="0">
              <a:latin typeface="Amasis MT Pro Light" panose="020B0604020202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589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E1C609-1956-4AB2-9D6C-257ACA1F86C2}"/>
              </a:ext>
            </a:extLst>
          </p:cNvPr>
          <p:cNvSpPr txBox="1"/>
          <p:nvPr/>
        </p:nvSpPr>
        <p:spPr>
          <a:xfrm>
            <a:off x="0" y="266700"/>
            <a:ext cx="12192000" cy="523220"/>
          </a:xfrm>
          <a:prstGeom prst="rect">
            <a:avLst/>
          </a:prstGeom>
          <a:solidFill>
            <a:schemeClr val="accent6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954C1-B7DC-4CCC-B324-B3A0050BA5E9}"/>
              </a:ext>
            </a:extLst>
          </p:cNvPr>
          <p:cNvSpPr txBox="1"/>
          <p:nvPr/>
        </p:nvSpPr>
        <p:spPr>
          <a:xfrm>
            <a:off x="3707606" y="177968"/>
            <a:ext cx="4776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B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eacon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U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tility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S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ystem</a:t>
            </a:r>
            <a:endParaRPr lang="en-GB" sz="3600" dirty="0">
              <a:solidFill>
                <a:schemeClr val="accent6">
                  <a:lumMod val="20000"/>
                  <a:lumOff val="8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ABBC02-9779-492F-B213-7ADFB21A31DD}"/>
              </a:ext>
            </a:extLst>
          </p:cNvPr>
          <p:cNvSpPr txBox="1"/>
          <p:nvPr/>
        </p:nvSpPr>
        <p:spPr>
          <a:xfrm>
            <a:off x="261937" y="913031"/>
            <a:ext cx="113680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Bahnschrift SemiBold" panose="020B0502040204020203" pitchFamily="34" charset="0"/>
              </a:rPr>
              <a:t>5. User Roles : </a:t>
            </a:r>
          </a:p>
          <a:p>
            <a:endParaRPr lang="en-US" sz="2400" dirty="0">
              <a:latin typeface="Amasis MT Pro Light" panose="020B0604020202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A11F32-4F9F-46D2-8512-D9D14FC378BF}"/>
              </a:ext>
            </a:extLst>
          </p:cNvPr>
          <p:cNvSpPr txBox="1"/>
          <p:nvPr/>
        </p:nvSpPr>
        <p:spPr>
          <a:xfrm>
            <a:off x="0" y="1619250"/>
            <a:ext cx="6096000" cy="52387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55D448-9494-4C47-82D4-F9B6FF863067}"/>
              </a:ext>
            </a:extLst>
          </p:cNvPr>
          <p:cNvSpPr txBox="1"/>
          <p:nvPr/>
        </p:nvSpPr>
        <p:spPr>
          <a:xfrm>
            <a:off x="6096000" y="1619250"/>
            <a:ext cx="6096000" cy="52387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B0960A-49AD-4A1D-B805-FCC4CBDE365C}"/>
              </a:ext>
            </a:extLst>
          </p:cNvPr>
          <p:cNvSpPr txBox="1"/>
          <p:nvPr/>
        </p:nvSpPr>
        <p:spPr>
          <a:xfrm>
            <a:off x="0" y="1619250"/>
            <a:ext cx="12192000" cy="4616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                                   STAFF                                                                         NORMAL USER</a:t>
            </a:r>
            <a:endParaRPr lang="en-GB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DF618E-A1E7-4D4D-9725-F5CB9B0F2EDD}"/>
              </a:ext>
            </a:extLst>
          </p:cNvPr>
          <p:cNvSpPr txBox="1"/>
          <p:nvPr/>
        </p:nvSpPr>
        <p:spPr>
          <a:xfrm>
            <a:off x="76200" y="2124075"/>
            <a:ext cx="5905500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>
                <a:latin typeface="Amasis MT Pro Light" panose="020B0604020202020204" pitchFamily="18" charset="0"/>
              </a:rPr>
              <a:t>Staff can update ticket prices </a:t>
            </a:r>
            <a:r>
              <a:rPr lang="en-GB" sz="1600" dirty="0">
                <a:latin typeface="Amasis MT Pro Light" panose="020B0604020202020204" pitchFamily="18" charset="0"/>
              </a:rPr>
              <a:t>(staff only)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>
                <a:latin typeface="Amasis MT Pro Light" panose="020B0604020202020204" pitchFamily="18" charset="0"/>
              </a:rPr>
              <a:t>Staff can check any available reservations </a:t>
            </a:r>
            <a:r>
              <a:rPr lang="en-GB" sz="1600" dirty="0">
                <a:latin typeface="Amasis MT Pro Light" panose="020B0604020202020204" pitchFamily="18" charset="0"/>
              </a:rPr>
              <a:t>(staff only)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GB" dirty="0">
              <a:latin typeface="Amasis MT Pro Light" panose="020B06040202020202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>
                <a:latin typeface="Amasis MT Pro Light" panose="020B0604020202020204" pitchFamily="18" charset="0"/>
              </a:rPr>
              <a:t>Reset password using NIC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GB" dirty="0">
              <a:latin typeface="Amasis MT Pro Light" panose="020B060402020202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D2B2B3-A092-49C9-9CD7-C6B0ACB5C040}"/>
              </a:ext>
            </a:extLst>
          </p:cNvPr>
          <p:cNvSpPr txBox="1"/>
          <p:nvPr/>
        </p:nvSpPr>
        <p:spPr>
          <a:xfrm>
            <a:off x="6172200" y="2080915"/>
            <a:ext cx="5905500" cy="378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masis MT Pro Light" panose="020B0604020202020204" pitchFamily="18" charset="0"/>
              </a:rPr>
              <a:t>Normal user can,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>
                <a:latin typeface="Amasis MT Pro Light" panose="020B0604020202020204" pitchFamily="18" charset="0"/>
              </a:rPr>
              <a:t>Add user details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>
                <a:latin typeface="Amasis MT Pro Light" panose="020B0604020202020204" pitchFamily="18" charset="0"/>
              </a:rPr>
              <a:t>Choose start &amp; stop Destinations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>
                <a:latin typeface="Amasis MT Pro Light" panose="020B0604020202020204" pitchFamily="18" charset="0"/>
              </a:rPr>
              <a:t>Reset password using NIC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>
                <a:latin typeface="Amasis MT Pro Light" panose="020B0604020202020204" pitchFamily="18" charset="0"/>
              </a:rPr>
              <a:t>Add lost items details with item photo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>
                <a:latin typeface="Amasis MT Pro Light" panose="020B0604020202020204" pitchFamily="18" charset="0"/>
              </a:rPr>
              <a:t>Remove user account using NIC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>
                <a:latin typeface="Amasis MT Pro Light" panose="020B0604020202020204" pitchFamily="18" charset="0"/>
              </a:rPr>
              <a:t>Choose bus id to check bus arrival times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lang="en-GB" dirty="0">
              <a:latin typeface="Amasis MT Pro Light" panose="020B0604020202020204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lang="en-GB" dirty="0">
              <a:latin typeface="Amasis MT Pro Light" panose="020B0604020202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890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E1C609-1956-4AB2-9D6C-257ACA1F86C2}"/>
              </a:ext>
            </a:extLst>
          </p:cNvPr>
          <p:cNvSpPr txBox="1"/>
          <p:nvPr/>
        </p:nvSpPr>
        <p:spPr>
          <a:xfrm>
            <a:off x="0" y="266700"/>
            <a:ext cx="12192000" cy="523220"/>
          </a:xfrm>
          <a:prstGeom prst="rect">
            <a:avLst/>
          </a:prstGeom>
          <a:solidFill>
            <a:schemeClr val="accent6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954C1-B7DC-4CCC-B324-B3A0050BA5E9}"/>
              </a:ext>
            </a:extLst>
          </p:cNvPr>
          <p:cNvSpPr txBox="1"/>
          <p:nvPr/>
        </p:nvSpPr>
        <p:spPr>
          <a:xfrm>
            <a:off x="3707606" y="177968"/>
            <a:ext cx="4776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B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eacon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U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tility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S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ystem</a:t>
            </a:r>
            <a:endParaRPr lang="en-GB" sz="3600" dirty="0">
              <a:solidFill>
                <a:schemeClr val="accent6">
                  <a:lumMod val="20000"/>
                  <a:lumOff val="8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ABBC02-9779-492F-B213-7ADFB21A31DD}"/>
              </a:ext>
            </a:extLst>
          </p:cNvPr>
          <p:cNvSpPr txBox="1"/>
          <p:nvPr/>
        </p:nvSpPr>
        <p:spPr>
          <a:xfrm>
            <a:off x="261937" y="913031"/>
            <a:ext cx="11368088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Bahnschrift SemiBold" panose="020B0502040204020203" pitchFamily="34" charset="0"/>
              </a:rPr>
              <a:t>6. Use of Main OOP Concepts :</a:t>
            </a:r>
          </a:p>
          <a:p>
            <a:endParaRPr lang="en-US" sz="3600" dirty="0">
              <a:latin typeface="Bahnschrift SemiBold" panose="020B0502040204020203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Bahnschrift SemiBold" panose="020B0502040204020203" pitchFamily="34" charset="0"/>
              </a:rPr>
              <a:t>Inheritance</a:t>
            </a:r>
          </a:p>
          <a:p>
            <a:pPr lvl="1" algn="just"/>
            <a:r>
              <a:rPr lang="en-US" sz="3600" dirty="0">
                <a:latin typeface="Amasis MT Pro Light" panose="020B0604020202020204" pitchFamily="18" charset="0"/>
              </a:rPr>
              <a:t> 		</a:t>
            </a:r>
            <a:r>
              <a:rPr lang="en-US" sz="2400" dirty="0">
                <a:latin typeface="Amasis MT Pro Light" panose="020B0604020202020204" pitchFamily="18" charset="0"/>
              </a:rPr>
              <a:t>we used </a:t>
            </a:r>
            <a:r>
              <a:rPr lang="en-US" sz="24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javax.swing.Jframe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Amasis MT Pro Light" panose="020B0604020202020204" pitchFamily="18" charset="0"/>
              </a:rPr>
              <a:t>predefined Java Swing class as </a:t>
            </a:r>
            <a:r>
              <a:rPr lang="en-US" sz="2400" dirty="0">
                <a:highlight>
                  <a:srgbClr val="00FFFF"/>
                </a:highlight>
                <a:latin typeface="Amasis MT Pro Light" panose="020B0604020202020204" pitchFamily="18" charset="0"/>
              </a:rPr>
              <a:t>parent class</a:t>
            </a:r>
            <a:r>
              <a:rPr lang="en-US" sz="2400" dirty="0">
                <a:latin typeface="Amasis MT Pro Light" panose="020B0604020202020204" pitchFamily="18" charset="0"/>
              </a:rPr>
              <a:t>, that provides a basic window framework, after we create </a:t>
            </a:r>
            <a:r>
              <a:rPr lang="en-US" sz="2400" dirty="0">
                <a:highlight>
                  <a:srgbClr val="FFFF00"/>
                </a:highlight>
                <a:latin typeface="Amasis MT Pro Light" panose="020B0604020202020204" pitchFamily="18" charset="0"/>
              </a:rPr>
              <a:t>sub classes</a:t>
            </a:r>
            <a:r>
              <a:rPr lang="en-US" sz="2400" dirty="0">
                <a:latin typeface="Amasis MT Pro Light" panose="020B0604020202020204" pitchFamily="18" charset="0"/>
              </a:rPr>
              <a:t>   using this parent class.</a:t>
            </a:r>
          </a:p>
          <a:p>
            <a:pPr lvl="1" algn="just"/>
            <a:r>
              <a:rPr lang="en-US" sz="2400" dirty="0">
                <a:latin typeface="Amasis MT Pro Light" panose="020B0604020202020204" pitchFamily="18" charset="0"/>
              </a:rPr>
              <a:t>  ex : </a:t>
            </a:r>
          </a:p>
          <a:p>
            <a:pPr marL="1828800" lvl="3" indent="-4572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20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ADD_LOST_ITEMS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extends </a:t>
            </a:r>
            <a:r>
              <a:rPr lang="en-US" sz="20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javax.swing.JFrame</a:t>
            </a:r>
            <a:r>
              <a:rPr lang="en-US" sz="20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{//code}</a:t>
            </a:r>
          </a:p>
          <a:p>
            <a:pPr lvl="3" algn="just"/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828800" lvl="3" indent="-4572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20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DASHBOARD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extends </a:t>
            </a:r>
            <a:r>
              <a:rPr lang="en-US" sz="20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javax.swing.JFrame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{//code}</a:t>
            </a:r>
          </a:p>
          <a:p>
            <a:pPr lvl="3" algn="just"/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828800" lvl="3" indent="-4572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20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extends </a:t>
            </a:r>
            <a:r>
              <a:rPr lang="en-US" sz="20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javax.swing.JFrame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{//code}</a:t>
            </a:r>
          </a:p>
          <a:p>
            <a:pPr marL="1828800" lvl="3" indent="-4572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1" algn="just"/>
            <a:r>
              <a:rPr lang="en-US" sz="2400" dirty="0">
                <a:latin typeface="Amasis MT Pro Light" panose="020B0604020202020204" pitchFamily="18" charset="0"/>
              </a:rPr>
              <a:t>(All interfaces inherit from this predefined swing super class)</a:t>
            </a:r>
          </a:p>
          <a:p>
            <a:endParaRPr lang="en-US" sz="2400" dirty="0">
              <a:latin typeface="Amasis MT Pro Light" panose="020B0604020202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816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BB63A13-046A-47CC-B10C-59C49E187700}"/>
              </a:ext>
            </a:extLst>
          </p:cNvPr>
          <p:cNvSpPr txBox="1"/>
          <p:nvPr/>
        </p:nvSpPr>
        <p:spPr>
          <a:xfrm>
            <a:off x="409575" y="4057650"/>
            <a:ext cx="577214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GB" sz="14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Needmethod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extends </a:t>
            </a:r>
            <a:r>
              <a:rPr lang="en-GB" sz="14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REG_NORMAL__USER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abstract class A extends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Needmethod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{} 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//…more code available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Kalutara(){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combox2.addItem("Panadura");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combox2.addItem("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Horana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combox2.addItem("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Bandaragama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combox2.addItem("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Mathugama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combox2.addItem("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Beruwala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//…more code available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E1C609-1956-4AB2-9D6C-257ACA1F86C2}"/>
              </a:ext>
            </a:extLst>
          </p:cNvPr>
          <p:cNvSpPr txBox="1"/>
          <p:nvPr/>
        </p:nvSpPr>
        <p:spPr>
          <a:xfrm>
            <a:off x="0" y="266700"/>
            <a:ext cx="12192000" cy="523220"/>
          </a:xfrm>
          <a:prstGeom prst="rect">
            <a:avLst/>
          </a:prstGeom>
          <a:solidFill>
            <a:schemeClr val="accent6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954C1-B7DC-4CCC-B324-B3A0050BA5E9}"/>
              </a:ext>
            </a:extLst>
          </p:cNvPr>
          <p:cNvSpPr txBox="1"/>
          <p:nvPr/>
        </p:nvSpPr>
        <p:spPr>
          <a:xfrm>
            <a:off x="3707606" y="177968"/>
            <a:ext cx="4776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B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eacon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U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tility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S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ystem</a:t>
            </a:r>
            <a:endParaRPr lang="en-GB" sz="3600" dirty="0">
              <a:solidFill>
                <a:schemeClr val="accent6">
                  <a:lumMod val="20000"/>
                  <a:lumOff val="8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ABBC02-9779-492F-B213-7ADFB21A31DD}"/>
              </a:ext>
            </a:extLst>
          </p:cNvPr>
          <p:cNvSpPr txBox="1"/>
          <p:nvPr/>
        </p:nvSpPr>
        <p:spPr>
          <a:xfrm>
            <a:off x="109536" y="913031"/>
            <a:ext cx="12082463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Bahnschrift SemiBold" panose="020B0502040204020203" pitchFamily="34" charset="0"/>
              </a:rPr>
              <a:t>6. Use of Main OOP Concepts :</a:t>
            </a:r>
          </a:p>
          <a:p>
            <a:endParaRPr lang="en-US" sz="3600" dirty="0">
              <a:latin typeface="Bahnschrift SemiBold" panose="020B0502040204020203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Bahnschrift SemiBold" panose="020B0502040204020203" pitchFamily="34" charset="0"/>
              </a:rPr>
              <a:t>Inheritance</a:t>
            </a:r>
          </a:p>
          <a:p>
            <a:pPr lvl="3"/>
            <a:r>
              <a:rPr lang="en-US" sz="2400" dirty="0">
                <a:latin typeface="Amasis MT Pro Light" panose="020B0604020202020204" pitchFamily="18" charset="0"/>
              </a:rPr>
              <a:t>we created sub class named </a:t>
            </a:r>
            <a:r>
              <a:rPr lang="en-US" sz="24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Needmethod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Amasis MT Pro Light" panose="020B0604020202020204" pitchFamily="18" charset="0"/>
              </a:rPr>
              <a:t>inherit from </a:t>
            </a:r>
            <a:r>
              <a:rPr lang="en-US" sz="24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REG_NORMAL__USER </a:t>
            </a:r>
            <a:r>
              <a:rPr lang="en-US" sz="2400" dirty="0">
                <a:highlight>
                  <a:srgbClr val="00FFFF"/>
                </a:highlight>
                <a:latin typeface="Amasis MT Pro Light" panose="020B0604020202020204" pitchFamily="18" charset="0"/>
              </a:rPr>
              <a:t>parent </a:t>
            </a:r>
            <a:r>
              <a:rPr lang="en-US" sz="2400" dirty="0" err="1">
                <a:highlight>
                  <a:srgbClr val="00FFFF"/>
                </a:highlight>
                <a:latin typeface="Amasis MT Pro Light" panose="020B0604020202020204" pitchFamily="18" charset="0"/>
              </a:rPr>
              <a:t>class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400" dirty="0" err="1">
                <a:latin typeface="Amasis MT Pro Light" panose="020B0604020202020204" pitchFamily="18" charset="0"/>
              </a:rPr>
              <a:t>this</a:t>
            </a:r>
            <a:r>
              <a:rPr lang="en-US" sz="2400" dirty="0">
                <a:latin typeface="Amasis MT Pro Light" panose="020B0604020202020204" pitchFamily="18" charset="0"/>
              </a:rPr>
              <a:t> </a:t>
            </a:r>
            <a:r>
              <a:rPr lang="en-US" sz="2400" dirty="0">
                <a:highlight>
                  <a:srgbClr val="FFFF00"/>
                </a:highlight>
                <a:latin typeface="Amasis MT Pro Light" panose="020B0604020202020204" pitchFamily="18" charset="0"/>
              </a:rPr>
              <a:t>sub class</a:t>
            </a:r>
            <a:r>
              <a:rPr lang="en-US" sz="2400" dirty="0">
                <a:latin typeface="Amasis MT Pro Light" panose="020B0604020202020204" pitchFamily="18" charset="0"/>
              </a:rPr>
              <a:t> includes methods with </a:t>
            </a:r>
            <a:r>
              <a:rPr lang="en-US" sz="2400" dirty="0" err="1">
                <a:latin typeface="Amasis MT Pro Light" panose="020B0604020202020204" pitchFamily="18" charset="0"/>
              </a:rPr>
              <a:t>combobox</a:t>
            </a:r>
            <a:r>
              <a:rPr lang="en-US" sz="2400" dirty="0">
                <a:latin typeface="Amasis MT Pro Light" panose="020B0604020202020204" pitchFamily="18" charset="0"/>
              </a:rPr>
              <a:t> items, each method represent various item set.</a:t>
            </a:r>
          </a:p>
          <a:p>
            <a:pPr lvl="3"/>
            <a:r>
              <a:rPr lang="en-US" sz="2400" dirty="0">
                <a:latin typeface="Amasis MT Pro Light" panose="020B0604020202020204" pitchFamily="18" charset="0"/>
              </a:rPr>
              <a:t> ex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8A0416-00C9-470D-A1B2-AD0521853211}"/>
              </a:ext>
            </a:extLst>
          </p:cNvPr>
          <p:cNvSpPr txBox="1"/>
          <p:nvPr/>
        </p:nvSpPr>
        <p:spPr>
          <a:xfrm>
            <a:off x="6673453" y="4057650"/>
            <a:ext cx="570547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+mj-lt"/>
              </a:rPr>
              <a:t>public class </a:t>
            </a:r>
            <a:r>
              <a:rPr lang="en-US" sz="1600" dirty="0">
                <a:highlight>
                  <a:srgbClr val="00FFFF"/>
                </a:highlight>
                <a:latin typeface="+mj-lt"/>
              </a:rPr>
              <a:t>REG_NORMAL__USER</a:t>
            </a:r>
            <a:r>
              <a:rPr lang="en-US" sz="1600" dirty="0">
                <a:latin typeface="+mj-lt"/>
              </a:rPr>
              <a:t> extends </a:t>
            </a:r>
            <a:r>
              <a:rPr lang="en-US" sz="1600" dirty="0" err="1">
                <a:latin typeface="+mj-lt"/>
              </a:rPr>
              <a:t>javax.swing.JFrame</a:t>
            </a:r>
            <a:r>
              <a:rPr lang="en-US" sz="1600" dirty="0">
                <a:latin typeface="+mj-lt"/>
              </a:rPr>
              <a:t> {</a:t>
            </a:r>
          </a:p>
          <a:p>
            <a:r>
              <a:rPr lang="en-US" sz="1600" dirty="0">
                <a:latin typeface="+mj-lt"/>
              </a:rPr>
              <a:t>  //…more code available</a:t>
            </a:r>
          </a:p>
          <a:p>
            <a:r>
              <a:rPr lang="en-US" sz="1600" dirty="0">
                <a:latin typeface="+mj-lt"/>
              </a:rPr>
              <a:t>    if (</a:t>
            </a:r>
            <a:r>
              <a:rPr lang="en-US" sz="1600" dirty="0" err="1">
                <a:latin typeface="+mj-lt"/>
              </a:rPr>
              <a:t>selectedItem.equals</a:t>
            </a:r>
            <a:r>
              <a:rPr lang="en-US" sz="1600" dirty="0">
                <a:latin typeface="+mj-lt"/>
              </a:rPr>
              <a:t>("Panadura")) {</a:t>
            </a:r>
          </a:p>
          <a:p>
            <a:r>
              <a:rPr lang="en-US" sz="1600" dirty="0">
                <a:latin typeface="+mj-lt"/>
              </a:rPr>
              <a:t>         </a:t>
            </a:r>
            <a:r>
              <a:rPr lang="en-US" sz="1600" dirty="0" err="1">
                <a:highlight>
                  <a:srgbClr val="FFFF00"/>
                </a:highlight>
                <a:latin typeface="+mj-lt"/>
              </a:rPr>
              <a:t>Needmethod</a:t>
            </a:r>
            <a:r>
              <a:rPr lang="en-US" sz="1600" dirty="0" err="1">
                <a:latin typeface="+mj-lt"/>
              </a:rPr>
              <a:t>.A.Panadura</a:t>
            </a:r>
            <a:r>
              <a:rPr lang="en-US" sz="1600" dirty="0">
                <a:latin typeface="+mj-lt"/>
              </a:rPr>
              <a:t>();</a:t>
            </a:r>
          </a:p>
          <a:p>
            <a:r>
              <a:rPr lang="en-US" sz="1600" dirty="0">
                <a:latin typeface="+mj-lt"/>
              </a:rPr>
              <a:t>    } </a:t>
            </a:r>
          </a:p>
          <a:p>
            <a:r>
              <a:rPr lang="en-US" sz="1600" dirty="0">
                <a:latin typeface="+mj-lt"/>
              </a:rPr>
              <a:t>//…more code available</a:t>
            </a:r>
          </a:p>
          <a:p>
            <a:r>
              <a:rPr lang="en-US" sz="1600" dirty="0">
                <a:latin typeface="+mj-lt"/>
              </a:rPr>
              <a:t>}</a:t>
            </a:r>
            <a:endParaRPr lang="en-GB" sz="1600" dirty="0">
              <a:latin typeface="+mj-lt"/>
            </a:endParaRP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E222E84E-B8E7-48A6-AC01-2E123572D04A}"/>
              </a:ext>
            </a:extLst>
          </p:cNvPr>
          <p:cNvSpPr/>
          <p:nvPr/>
        </p:nvSpPr>
        <p:spPr>
          <a:xfrm rot="10800000">
            <a:off x="5745954" y="4057650"/>
            <a:ext cx="809626" cy="2533650"/>
          </a:xfrm>
          <a:prstGeom prst="leftBrace">
            <a:avLst>
              <a:gd name="adj1" fmla="val 28333"/>
              <a:gd name="adj2" fmla="val 63533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4861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E1C609-1956-4AB2-9D6C-257ACA1F86C2}"/>
              </a:ext>
            </a:extLst>
          </p:cNvPr>
          <p:cNvSpPr txBox="1"/>
          <p:nvPr/>
        </p:nvSpPr>
        <p:spPr>
          <a:xfrm>
            <a:off x="0" y="266700"/>
            <a:ext cx="12192000" cy="523220"/>
          </a:xfrm>
          <a:prstGeom prst="rect">
            <a:avLst/>
          </a:prstGeom>
          <a:solidFill>
            <a:schemeClr val="accent6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954C1-B7DC-4CCC-B324-B3A0050BA5E9}"/>
              </a:ext>
            </a:extLst>
          </p:cNvPr>
          <p:cNvSpPr txBox="1"/>
          <p:nvPr/>
        </p:nvSpPr>
        <p:spPr>
          <a:xfrm>
            <a:off x="3707606" y="177968"/>
            <a:ext cx="4776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B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eacon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U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tility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S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ystem</a:t>
            </a:r>
            <a:endParaRPr lang="en-GB" sz="3600" dirty="0">
              <a:solidFill>
                <a:schemeClr val="accent6">
                  <a:lumMod val="20000"/>
                  <a:lumOff val="8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ABBC02-9779-492F-B213-7ADFB21A31DD}"/>
              </a:ext>
            </a:extLst>
          </p:cNvPr>
          <p:cNvSpPr txBox="1"/>
          <p:nvPr/>
        </p:nvSpPr>
        <p:spPr>
          <a:xfrm>
            <a:off x="261937" y="913031"/>
            <a:ext cx="11768138" cy="732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Bahnschrift SemiBold" panose="020B0502040204020203" pitchFamily="34" charset="0"/>
              </a:rPr>
              <a:t>6. Use of Main OOP Concepts 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Bahnschrift SemiBold" panose="020B0502040204020203" pitchFamily="34" charset="0"/>
              </a:rPr>
              <a:t>Encapsulation </a:t>
            </a:r>
          </a:p>
          <a:p>
            <a:pPr lvl="3"/>
            <a:r>
              <a:rPr lang="en-US" sz="2000" dirty="0">
                <a:latin typeface="Amasis MT Pro Light" panose="020B0604020202020204" pitchFamily="18" charset="0"/>
              </a:rPr>
              <a:t>We created java class named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DatabaseManager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Amasis MT Pro Light" panose="020B0604020202020204" pitchFamily="18" charset="0"/>
              </a:rPr>
              <a:t>&amp; encapsulate </a:t>
            </a:r>
            <a:r>
              <a:rPr lang="en-US" sz="2000" b="1" dirty="0" err="1">
                <a:latin typeface="Amasis MT Pro Light" panose="020B0604020202020204" pitchFamily="18" charset="0"/>
              </a:rPr>
              <a:t>jdbcurl</a:t>
            </a:r>
            <a:r>
              <a:rPr lang="en-US" sz="2000" dirty="0">
                <a:latin typeface="Amasis MT Pro Light" panose="020B0604020202020204" pitchFamily="18" charset="0"/>
              </a:rPr>
              <a:t>, </a:t>
            </a:r>
            <a:r>
              <a:rPr lang="en-US" sz="2000" b="1" dirty="0">
                <a:latin typeface="Amasis MT Pro Light" panose="020B0604020202020204" pitchFamily="18" charset="0"/>
              </a:rPr>
              <a:t>username</a:t>
            </a:r>
            <a:r>
              <a:rPr lang="en-US" sz="2000" dirty="0">
                <a:latin typeface="Amasis MT Pro Light" panose="020B0604020202020204" pitchFamily="18" charset="0"/>
              </a:rPr>
              <a:t>, </a:t>
            </a:r>
            <a:r>
              <a:rPr lang="en-US" sz="2000" b="1" dirty="0">
                <a:latin typeface="Amasis MT Pro Light" panose="020B0604020202020204" pitchFamily="18" charset="0"/>
              </a:rPr>
              <a:t>password,</a:t>
            </a:r>
            <a:r>
              <a:rPr lang="en-US" sz="2000" dirty="0">
                <a:latin typeface="Amasis MT Pro Light" panose="020B0604020202020204" pitchFamily="18" charset="0"/>
              </a:rPr>
              <a:t> </a:t>
            </a:r>
            <a:r>
              <a:rPr lang="en-US" sz="2000" b="1" dirty="0">
                <a:latin typeface="Amasis MT Pro Light" panose="020B0604020202020204" pitchFamily="18" charset="0"/>
              </a:rPr>
              <a:t>connection</a:t>
            </a:r>
            <a:r>
              <a:rPr lang="en-US" sz="2400" b="1" dirty="0">
                <a:latin typeface="Amasis MT Pro Light" panose="020B0604020202020204" pitchFamily="18" charset="0"/>
              </a:rPr>
              <a:t> </a:t>
            </a:r>
            <a:r>
              <a:rPr lang="en-US" sz="2000" b="1" dirty="0">
                <a:latin typeface="Amasis MT Pro Light" panose="020B0604020202020204" pitchFamily="18" charset="0"/>
              </a:rPr>
              <a:t>&amp; all processing methods. </a:t>
            </a:r>
            <a:r>
              <a:rPr lang="en-US" sz="2400" dirty="0">
                <a:latin typeface="Amasis MT Pro Light" panose="020B0604020202020204" pitchFamily="18" charset="0"/>
              </a:rPr>
              <a:t>these data and processes </a:t>
            </a:r>
            <a:r>
              <a:rPr lang="en-US" sz="2400" u="sng" dirty="0">
                <a:latin typeface="Amasis MT Pro Light" panose="020B0604020202020204" pitchFamily="18" charset="0"/>
              </a:rPr>
              <a:t>hidden</a:t>
            </a:r>
            <a:r>
              <a:rPr lang="en-US" sz="2400" dirty="0">
                <a:latin typeface="Amasis MT Pro Light" panose="020B0604020202020204" pitchFamily="18" charset="0"/>
              </a:rPr>
              <a:t> from the actual code in sub class named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RESET_PASSWORD.</a:t>
            </a:r>
          </a:p>
          <a:p>
            <a:pPr lvl="3"/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5"/>
            <a:r>
              <a:rPr lang="en-US" sz="16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6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DatabaseManager</a:t>
            </a:r>
            <a:r>
              <a:rPr lang="en-US" sz="16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lvl="5"/>
            <a:r>
              <a:rPr lang="en-US" sz="16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// Encapsulated database connection details</a:t>
            </a:r>
          </a:p>
          <a:p>
            <a:pPr lvl="5"/>
            <a:r>
              <a:rPr lang="en-US" sz="16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private final String </a:t>
            </a:r>
            <a:r>
              <a:rPr lang="en-US" sz="16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jdbcUrl</a:t>
            </a:r>
            <a:r>
              <a:rPr lang="en-US" sz="16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5"/>
            <a:r>
              <a:rPr lang="en-US" sz="16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private final String username;</a:t>
            </a:r>
          </a:p>
          <a:p>
            <a:pPr lvl="5"/>
            <a:r>
              <a:rPr lang="en-US" sz="16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private final String password;</a:t>
            </a:r>
          </a:p>
          <a:p>
            <a:pPr lvl="5"/>
            <a:r>
              <a:rPr lang="en-US" sz="16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private Connection </a:t>
            </a:r>
            <a:r>
              <a:rPr lang="en-US" sz="16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connection</a:t>
            </a:r>
            <a:r>
              <a:rPr lang="en-US" sz="16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5"/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3"/>
            <a:r>
              <a:rPr lang="en-US" sz="2000" dirty="0">
                <a:latin typeface="Amasis MT Pro Light" panose="020B0604020202020204" pitchFamily="18" charset="0"/>
              </a:rPr>
              <a:t>After we create object in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RESET_PASSWORD </a:t>
            </a:r>
            <a:r>
              <a:rPr lang="en-US" sz="2000" dirty="0">
                <a:latin typeface="Amasis MT Pro Light" panose="020B0604020202020204" pitchFamily="18" charset="0"/>
              </a:rPr>
              <a:t>and send data to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DatabaseManager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lvl="4"/>
            <a:r>
              <a:rPr lang="en-US" sz="16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DatabaseManager</a:t>
            </a:r>
            <a:r>
              <a:rPr lang="en-US" sz="16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dbManager</a:t>
            </a:r>
            <a:r>
              <a:rPr lang="en-US" sz="16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16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DatabaseManager</a:t>
            </a:r>
            <a:r>
              <a:rPr lang="en-US" sz="16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jdbcUrl</a:t>
            </a:r>
            <a:r>
              <a:rPr lang="en-US" sz="16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 username, password);</a:t>
            </a:r>
          </a:p>
          <a:p>
            <a:pPr lvl="3"/>
            <a:r>
              <a:rPr lang="en-US" sz="2000" dirty="0">
                <a:latin typeface="Amasis MT Pro Light" panose="020B0604020202020204" pitchFamily="18" charset="0"/>
              </a:rPr>
              <a:t>and initialize private variable using </a:t>
            </a:r>
            <a:r>
              <a:rPr lang="en-US" sz="2000" dirty="0" err="1">
                <a:latin typeface="Amasis MT Pro Light" panose="020B0604020202020204" pitchFamily="18" charset="0"/>
              </a:rPr>
              <a:t>settermethod</a:t>
            </a:r>
            <a:r>
              <a:rPr lang="en-US" sz="2000" dirty="0">
                <a:latin typeface="Amasis MT Pro Light" panose="020B0604020202020204" pitchFamily="18" charset="0"/>
              </a:rPr>
              <a:t> named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5"/>
            <a:r>
              <a:rPr lang="en-US" sz="14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DatabaseManager</a:t>
            </a:r>
            <a:r>
              <a:rPr lang="en-US" sz="14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US" sz="14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jdbcUrl</a:t>
            </a:r>
            <a:r>
              <a:rPr lang="en-US" sz="14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 String username, String password){</a:t>
            </a:r>
          </a:p>
          <a:p>
            <a:pPr lvl="5"/>
            <a:r>
              <a:rPr lang="en-US" sz="14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this.jdbcUrl</a:t>
            </a:r>
            <a:r>
              <a:rPr lang="en-US" sz="14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jdbcUrl</a:t>
            </a:r>
            <a:r>
              <a:rPr lang="en-US" sz="14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5"/>
            <a:r>
              <a:rPr lang="en-US" sz="14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this.username</a:t>
            </a:r>
            <a:r>
              <a:rPr lang="en-US" sz="14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username;</a:t>
            </a:r>
          </a:p>
          <a:p>
            <a:pPr lvl="5"/>
            <a:r>
              <a:rPr lang="en-US" sz="14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this.password</a:t>
            </a:r>
            <a:r>
              <a:rPr lang="en-US" sz="14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password;}</a:t>
            </a:r>
          </a:p>
          <a:p>
            <a:pPr lvl="5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</a:p>
          <a:p>
            <a:pPr lvl="3"/>
            <a:r>
              <a:rPr lang="en-US" sz="3600" dirty="0">
                <a:latin typeface="Bahnschrift SemiBold" panose="020B0502040204020203" pitchFamily="34" charset="0"/>
              </a:rPr>
              <a:t>	</a:t>
            </a:r>
          </a:p>
          <a:p>
            <a:pPr lvl="1" algn="just"/>
            <a:r>
              <a:rPr lang="en-US" sz="3600" dirty="0">
                <a:latin typeface="Amasis MT Pro Light" panose="020B0604020202020204" pitchFamily="18" charset="0"/>
              </a:rPr>
              <a:t> 		</a:t>
            </a:r>
            <a:endParaRPr lang="en-US" sz="2400" dirty="0">
              <a:latin typeface="Amasis MT Pro Light" panose="020B0604020202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799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E1C609-1956-4AB2-9D6C-257ACA1F86C2}"/>
              </a:ext>
            </a:extLst>
          </p:cNvPr>
          <p:cNvSpPr txBox="1"/>
          <p:nvPr/>
        </p:nvSpPr>
        <p:spPr>
          <a:xfrm>
            <a:off x="0" y="266700"/>
            <a:ext cx="12192000" cy="523220"/>
          </a:xfrm>
          <a:prstGeom prst="rect">
            <a:avLst/>
          </a:prstGeom>
          <a:solidFill>
            <a:schemeClr val="accent6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954C1-B7DC-4CCC-B324-B3A0050BA5E9}"/>
              </a:ext>
            </a:extLst>
          </p:cNvPr>
          <p:cNvSpPr txBox="1"/>
          <p:nvPr/>
        </p:nvSpPr>
        <p:spPr>
          <a:xfrm>
            <a:off x="3707606" y="177968"/>
            <a:ext cx="4776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B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eacon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U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tility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S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ystem</a:t>
            </a:r>
            <a:endParaRPr lang="en-GB" sz="3600" dirty="0">
              <a:solidFill>
                <a:schemeClr val="accent6">
                  <a:lumMod val="20000"/>
                  <a:lumOff val="8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ABBC02-9779-492F-B213-7ADFB21A31DD}"/>
              </a:ext>
            </a:extLst>
          </p:cNvPr>
          <p:cNvSpPr txBox="1"/>
          <p:nvPr/>
        </p:nvSpPr>
        <p:spPr>
          <a:xfrm>
            <a:off x="261937" y="913031"/>
            <a:ext cx="11768138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Bahnschrift SemiBold" panose="020B0502040204020203" pitchFamily="34" charset="0"/>
              </a:rPr>
              <a:t>6. Use of Main OOP Concepts 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Bahnschrift SemiBold" panose="020B0502040204020203" pitchFamily="34" charset="0"/>
              </a:rPr>
              <a:t>Abstract</a:t>
            </a:r>
          </a:p>
          <a:p>
            <a:pPr lvl="3"/>
            <a:r>
              <a:rPr lang="en-US" sz="2400" dirty="0">
                <a:latin typeface="Amasis MT Pro Light" panose="020B0604020202020204" pitchFamily="18" charset="0"/>
              </a:rPr>
              <a:t>we add abstract method named </a:t>
            </a:r>
            <a:r>
              <a:rPr lang="en-US" sz="2400" b="1" dirty="0" err="1">
                <a:latin typeface="Amasis MT Pro Light" panose="020B0604020202020204" pitchFamily="18" charset="0"/>
              </a:rPr>
              <a:t>populatecombobox</a:t>
            </a:r>
            <a:r>
              <a:rPr lang="en-US" sz="2400" dirty="0" err="1">
                <a:latin typeface="Amasis MT Pro Light" panose="020B0604020202020204" pitchFamily="18" charset="0"/>
              </a:rPr>
              <a:t>,to</a:t>
            </a:r>
            <a:r>
              <a:rPr lang="en-US" sz="2400" dirty="0">
                <a:latin typeface="Amasis MT Pro Light" panose="020B0604020202020204" pitchFamily="18" charset="0"/>
              </a:rPr>
              <a:t> add item set using </a:t>
            </a:r>
            <a:r>
              <a:rPr lang="en-US" sz="2400" b="1" dirty="0">
                <a:latin typeface="Amasis MT Pro Light" panose="020B0604020202020204" pitchFamily="18" charset="0"/>
              </a:rPr>
              <a:t>most </a:t>
            </a:r>
            <a:r>
              <a:rPr lang="en-US" sz="2400" b="1" dirty="0" err="1">
                <a:latin typeface="Amasis MT Pro Light" panose="020B0604020202020204" pitchFamily="18" charset="0"/>
              </a:rPr>
              <a:t>choosed</a:t>
            </a:r>
            <a:r>
              <a:rPr lang="en-US" sz="2400" b="1" dirty="0">
                <a:latin typeface="Amasis MT Pro Light" panose="020B0604020202020204" pitchFamily="18" charset="0"/>
              </a:rPr>
              <a:t> bus routes</a:t>
            </a:r>
            <a:r>
              <a:rPr lang="en-US" sz="2400" dirty="0">
                <a:latin typeface="Amasis MT Pro Light" panose="020B0604020202020204" pitchFamily="18" charset="0"/>
              </a:rPr>
              <a:t>, but still we don’t know about that most </a:t>
            </a:r>
            <a:r>
              <a:rPr lang="en-US" sz="2400" dirty="0" err="1">
                <a:latin typeface="Amasis MT Pro Light" panose="020B0604020202020204" pitchFamily="18" charset="0"/>
              </a:rPr>
              <a:t>choosed</a:t>
            </a:r>
            <a:r>
              <a:rPr lang="en-US" sz="2400" dirty="0">
                <a:latin typeface="Amasis MT Pro Light" panose="020B0604020202020204" pitchFamily="18" charset="0"/>
              </a:rPr>
              <a:t> bus routes, so we set this method as abstract for future updating process.</a:t>
            </a:r>
          </a:p>
          <a:p>
            <a:pPr lvl="3"/>
            <a:endParaRPr lang="en-US" sz="1400" dirty="0">
              <a:highlight>
                <a:srgbClr val="00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5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class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Needmethod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extends REG_NORMAL__USER{</a:t>
            </a:r>
          </a:p>
          <a:p>
            <a:pPr lvl="5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lvl="5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</a:p>
          <a:p>
            <a:pPr lvl="5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public abstract void </a:t>
            </a:r>
            <a:r>
              <a:rPr lang="en-US" sz="20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populateComboBox</a:t>
            </a:r>
            <a:r>
              <a:rPr lang="en-US" sz="20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5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//more code available</a:t>
            </a:r>
          </a:p>
          <a:p>
            <a:pPr lvl="5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pPr lvl="5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lvl="5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3"/>
            <a:r>
              <a:rPr lang="en-US" sz="3600" dirty="0">
                <a:latin typeface="Bahnschrift SemiBold" panose="020B0502040204020203" pitchFamily="34" charset="0"/>
              </a:rPr>
              <a:t>	</a:t>
            </a:r>
          </a:p>
          <a:p>
            <a:pPr lvl="1" algn="just"/>
            <a:r>
              <a:rPr lang="en-US" sz="3600" dirty="0">
                <a:latin typeface="Amasis MT Pro Light" panose="020B0604020202020204" pitchFamily="18" charset="0"/>
              </a:rPr>
              <a:t> 		</a:t>
            </a:r>
            <a:endParaRPr lang="en-US" sz="2400" dirty="0">
              <a:latin typeface="Amasis MT Pro Light" panose="020B0604020202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390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E1C609-1956-4AB2-9D6C-257ACA1F86C2}"/>
              </a:ext>
            </a:extLst>
          </p:cNvPr>
          <p:cNvSpPr txBox="1"/>
          <p:nvPr/>
        </p:nvSpPr>
        <p:spPr>
          <a:xfrm>
            <a:off x="0" y="266700"/>
            <a:ext cx="12192000" cy="523220"/>
          </a:xfrm>
          <a:prstGeom prst="rect">
            <a:avLst/>
          </a:prstGeom>
          <a:solidFill>
            <a:schemeClr val="accent6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954C1-B7DC-4CCC-B324-B3A0050BA5E9}"/>
              </a:ext>
            </a:extLst>
          </p:cNvPr>
          <p:cNvSpPr txBox="1"/>
          <p:nvPr/>
        </p:nvSpPr>
        <p:spPr>
          <a:xfrm>
            <a:off x="3707606" y="177968"/>
            <a:ext cx="4776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B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eacon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U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tility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S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ystem</a:t>
            </a:r>
            <a:endParaRPr lang="en-GB" sz="3600" dirty="0">
              <a:solidFill>
                <a:schemeClr val="accent6">
                  <a:lumMod val="20000"/>
                  <a:lumOff val="8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ABBC02-9779-492F-B213-7ADFB21A31DD}"/>
              </a:ext>
            </a:extLst>
          </p:cNvPr>
          <p:cNvSpPr txBox="1"/>
          <p:nvPr/>
        </p:nvSpPr>
        <p:spPr>
          <a:xfrm>
            <a:off x="261937" y="913031"/>
            <a:ext cx="117681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Bahnschrift SemiBold" panose="020B0502040204020203" pitchFamily="34" charset="0"/>
              </a:rPr>
              <a:t>6. Use of Main OOP Concepts 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Bahnschrift SemiBold" panose="020B0502040204020203" pitchFamily="34" charset="0"/>
              </a:rPr>
              <a:t>Polymorphism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masis MT Pro Light" panose="020B0604020202020204" pitchFamily="18" charset="0"/>
              </a:rPr>
              <a:t>The most common use of polymorphism in OOP occurs when a </a:t>
            </a:r>
            <a:r>
              <a:rPr lang="en-US" sz="2400" dirty="0">
                <a:highlight>
                  <a:srgbClr val="FFFF00"/>
                </a:highlight>
                <a:latin typeface="Amasis MT Pro Light" panose="020B0604020202020204" pitchFamily="18" charset="0"/>
              </a:rPr>
              <a:t>parent class reference is used to refer to a child class object</a:t>
            </a:r>
            <a:r>
              <a:rPr lang="en-US" sz="2400" dirty="0">
                <a:latin typeface="Amasis MT Pro Light" panose="020B0604020202020204" pitchFamily="18" charset="0"/>
              </a:rPr>
              <a:t>.so we use this process to </a:t>
            </a:r>
            <a:r>
              <a:rPr lang="en-US" sz="2400" dirty="0">
                <a:highlight>
                  <a:srgbClr val="00FFFF"/>
                </a:highlight>
                <a:latin typeface="Amasis MT Pro Light" panose="020B0604020202020204" pitchFamily="18" charset="0"/>
              </a:rPr>
              <a:t>staff checking during ticket price change process &amp; display reservations process</a:t>
            </a:r>
          </a:p>
          <a:p>
            <a:pPr lvl="3"/>
            <a:r>
              <a:rPr lang="en-US" sz="2400" dirty="0">
                <a:latin typeface="Amasis MT Pro Light" panose="020B0604020202020204" pitchFamily="18" charset="0"/>
              </a:rPr>
              <a:t>    example :</a:t>
            </a:r>
          </a:p>
          <a:p>
            <a:pPr lvl="3"/>
            <a:endParaRPr lang="en-US" sz="2400" dirty="0">
              <a:latin typeface="Amasis MT Pro Light" panose="020B0604020202020204" pitchFamily="18" charset="0"/>
            </a:endParaRPr>
          </a:p>
          <a:p>
            <a:pPr lvl="3"/>
            <a:r>
              <a:rPr lang="en-US" sz="3600" dirty="0">
                <a:latin typeface="Amasis MT Pro Light" panose="020B0604020202020204" pitchFamily="18" charset="0"/>
              </a:rPr>
              <a:t>	</a:t>
            </a:r>
            <a:endParaRPr lang="en-US" sz="2400" dirty="0">
              <a:latin typeface="Amasis MT Pro Light" panose="020B060402020202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F07973-03CD-4CC9-82DB-CDE9439C1ECA}"/>
              </a:ext>
            </a:extLst>
          </p:cNvPr>
          <p:cNvSpPr txBox="1"/>
          <p:nvPr/>
        </p:nvSpPr>
        <p:spPr>
          <a:xfrm>
            <a:off x="211931" y="4143300"/>
            <a:ext cx="11768138" cy="244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3"/>
            <a:r>
              <a:rPr lang="en-US" sz="1600" dirty="0">
                <a:latin typeface="Amasis MT Pro Light" panose="020B0604020202020204" pitchFamily="18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Main_Staff_Check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extends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javax.swing.JFrame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String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get_action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600" b="1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set_action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action){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get_action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action;}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600" b="1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staff_check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6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//database password checking process code set available here…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//below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codeset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is update to be part in child class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DisplayReservations</a:t>
            </a:r>
            <a:r>
              <a:rPr 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6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setVisible</a:t>
            </a:r>
            <a:r>
              <a:rPr lang="en-US" sz="16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(true);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lvl="3"/>
            <a:r>
              <a:rPr lang="en-US" sz="1600" dirty="0">
                <a:latin typeface="Amasis MT Pro Light" panose="020B0604020202020204" pitchFamily="18" charset="0"/>
              </a:rPr>
              <a:t>    </a:t>
            </a:r>
            <a:r>
              <a:rPr lang="en-US" sz="3600" dirty="0">
                <a:latin typeface="Amasis MT Pro Light" panose="020B0604020202020204" pitchFamily="18" charset="0"/>
              </a:rPr>
              <a:t>	</a:t>
            </a:r>
            <a:endParaRPr lang="en-US" sz="2400" dirty="0">
              <a:latin typeface="Amasis MT Pro Light" panose="020B0604020202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308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E1C609-1956-4AB2-9D6C-257ACA1F86C2}"/>
              </a:ext>
            </a:extLst>
          </p:cNvPr>
          <p:cNvSpPr txBox="1"/>
          <p:nvPr/>
        </p:nvSpPr>
        <p:spPr>
          <a:xfrm>
            <a:off x="0" y="266700"/>
            <a:ext cx="12192000" cy="523220"/>
          </a:xfrm>
          <a:prstGeom prst="rect">
            <a:avLst/>
          </a:prstGeom>
          <a:solidFill>
            <a:schemeClr val="accent6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954C1-B7DC-4CCC-B324-B3A0050BA5E9}"/>
              </a:ext>
            </a:extLst>
          </p:cNvPr>
          <p:cNvSpPr txBox="1"/>
          <p:nvPr/>
        </p:nvSpPr>
        <p:spPr>
          <a:xfrm>
            <a:off x="3707606" y="177968"/>
            <a:ext cx="4776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B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eacon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U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tility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S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ystem</a:t>
            </a:r>
            <a:endParaRPr lang="en-GB" sz="3600" dirty="0">
              <a:solidFill>
                <a:schemeClr val="accent6">
                  <a:lumMod val="20000"/>
                  <a:lumOff val="8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274856-391B-43F5-BCED-6F71F6EBB9E3}"/>
              </a:ext>
            </a:extLst>
          </p:cNvPr>
          <p:cNvSpPr txBox="1"/>
          <p:nvPr/>
        </p:nvSpPr>
        <p:spPr>
          <a:xfrm>
            <a:off x="261937" y="1169341"/>
            <a:ext cx="11768138" cy="302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PRICE_UPDATE_STAFF_CHECK extends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Main_Staff_Check</a:t>
            </a:r>
            <a:r>
              <a:rPr lang="en-US" sz="16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16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public void </a:t>
            </a:r>
            <a:r>
              <a:rPr lang="en-US" sz="1600" b="1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set_action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action){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get_action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action;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}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16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public void </a:t>
            </a:r>
            <a:r>
              <a:rPr lang="en-US" sz="1600" b="1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staff_check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6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//database password checking process code set available here(same as parent class)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//below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codeset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is updated part(this part only)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sz="16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UPDATE_TICKET_PRICE()</a:t>
            </a:r>
            <a:r>
              <a:rPr lang="en-US" sz="16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setVisible</a:t>
            </a:r>
            <a:r>
              <a:rPr lang="en-US" sz="16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(true);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16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400" dirty="0">
              <a:highlight>
                <a:srgbClr val="00FFFF"/>
              </a:highlight>
              <a:latin typeface="Amasis MT Pro Light" panose="020B0604020202020204" pitchFamily="18" charset="0"/>
            </a:endParaRPr>
          </a:p>
          <a:p>
            <a:pPr lvl="3"/>
            <a:r>
              <a:rPr lang="en-US" sz="3600" dirty="0">
                <a:latin typeface="Amasis MT Pro Light" panose="020B0604020202020204" pitchFamily="18" charset="0"/>
              </a:rPr>
              <a:t>	</a:t>
            </a:r>
            <a:endParaRPr lang="en-US" sz="2400" dirty="0">
              <a:latin typeface="Amasis MT Pro Light" panose="020B060402020202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91553F-E840-454E-BB0B-216E55CEA4F2}"/>
              </a:ext>
            </a:extLst>
          </p:cNvPr>
          <p:cNvSpPr txBox="1"/>
          <p:nvPr/>
        </p:nvSpPr>
        <p:spPr>
          <a:xfrm>
            <a:off x="261937" y="4367342"/>
            <a:ext cx="11768138" cy="21236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DASHBOARD extends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javax.swing.JFrame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	 private void jButton1ActionPerformed(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java.awt.event.ActionEvent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6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6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Main_Staff_Check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16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PRICE_UPDATE_STAFF_CHECK();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rsc.set_action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change_price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");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rsc.setVisible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(true); // Use the same instance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6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6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3600" dirty="0">
                <a:latin typeface="Amasis MT Pro Light" panose="020B0604020202020204" pitchFamily="18" charset="0"/>
              </a:rPr>
              <a:t>	</a:t>
            </a:r>
            <a:endParaRPr lang="en-US" sz="2400" dirty="0">
              <a:latin typeface="Amasis MT Pro Light" panose="020B06040202020202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AE638F-BAB6-42F6-A35B-BDD172EAA4F5}"/>
              </a:ext>
            </a:extLst>
          </p:cNvPr>
          <p:cNvSpPr/>
          <p:nvPr/>
        </p:nvSpPr>
        <p:spPr>
          <a:xfrm>
            <a:off x="1719263" y="4865285"/>
            <a:ext cx="2143125" cy="319087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BFC6ED-FBB8-4332-A9F1-7ADD54274F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5" t="14188" b="15966"/>
          <a:stretch/>
        </p:blipFill>
        <p:spPr>
          <a:xfrm>
            <a:off x="9772651" y="5748951"/>
            <a:ext cx="2157048" cy="54292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EDABC72-EA5A-47A8-8BE9-57F0D97B6D6F}"/>
              </a:ext>
            </a:extLst>
          </p:cNvPr>
          <p:cNvSpPr/>
          <p:nvPr/>
        </p:nvSpPr>
        <p:spPr>
          <a:xfrm>
            <a:off x="5050632" y="4862511"/>
            <a:ext cx="3433762" cy="319087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D59AEB-26C9-4F4E-BB7C-C7DCFB378B83}"/>
              </a:ext>
            </a:extLst>
          </p:cNvPr>
          <p:cNvCxnSpPr>
            <a:cxnSpLocks/>
          </p:cNvCxnSpPr>
          <p:nvPr/>
        </p:nvCxnSpPr>
        <p:spPr>
          <a:xfrm flipH="1" flipV="1">
            <a:off x="8134350" y="5246418"/>
            <a:ext cx="228600" cy="12511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4EC7E0-F7B9-4089-A693-46089FC3995F}"/>
              </a:ext>
            </a:extLst>
          </p:cNvPr>
          <p:cNvCxnSpPr>
            <a:cxnSpLocks/>
          </p:cNvCxnSpPr>
          <p:nvPr/>
        </p:nvCxnSpPr>
        <p:spPr>
          <a:xfrm flipV="1">
            <a:off x="1466850" y="5236404"/>
            <a:ext cx="252413" cy="12680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76DA3A2-045D-48DA-AAE1-E3938B60E4D3}"/>
              </a:ext>
            </a:extLst>
          </p:cNvPr>
          <p:cNvSpPr/>
          <p:nvPr/>
        </p:nvSpPr>
        <p:spPr>
          <a:xfrm>
            <a:off x="569119" y="6497539"/>
            <a:ext cx="2143125" cy="319087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D3FEA5-B354-456B-94EA-CB526918DED4}"/>
              </a:ext>
            </a:extLst>
          </p:cNvPr>
          <p:cNvSpPr/>
          <p:nvPr/>
        </p:nvSpPr>
        <p:spPr>
          <a:xfrm>
            <a:off x="7291388" y="6497540"/>
            <a:ext cx="2143125" cy="319087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65FF31-D4A7-45A9-9305-F97438DA6ACC}"/>
              </a:ext>
            </a:extLst>
          </p:cNvPr>
          <p:cNvSpPr txBox="1"/>
          <p:nvPr/>
        </p:nvSpPr>
        <p:spPr>
          <a:xfrm>
            <a:off x="7796212" y="6465877"/>
            <a:ext cx="214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Child class </a:t>
            </a:r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F854FF-0F62-4DB2-AB58-19D7B6248FDE}"/>
              </a:ext>
            </a:extLst>
          </p:cNvPr>
          <p:cNvSpPr txBox="1"/>
          <p:nvPr/>
        </p:nvSpPr>
        <p:spPr>
          <a:xfrm>
            <a:off x="852488" y="6440857"/>
            <a:ext cx="214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Parent class </a:t>
            </a:r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039D0B-8B7D-41C2-BDDD-6A3386BCBFC0}"/>
              </a:ext>
            </a:extLst>
          </p:cNvPr>
          <p:cNvSpPr txBox="1"/>
          <p:nvPr/>
        </p:nvSpPr>
        <p:spPr>
          <a:xfrm>
            <a:off x="161561" y="841952"/>
            <a:ext cx="1176813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Bahnschrift SemiBold" panose="020B0502040204020203" pitchFamily="34" charset="0"/>
              </a:rPr>
              <a:t>6. Use of Main OOP Concepts : Polymorphism </a:t>
            </a:r>
          </a:p>
          <a:p>
            <a:pPr lvl="3"/>
            <a:endParaRPr lang="en-US" sz="800" dirty="0">
              <a:latin typeface="Amasis MT Pro Light" panose="020B0604020202020204" pitchFamily="18" charset="0"/>
            </a:endParaRPr>
          </a:p>
          <a:p>
            <a:pPr lvl="3"/>
            <a:r>
              <a:rPr lang="en-US" sz="1050" dirty="0">
                <a:latin typeface="Amasis MT Pro Light" panose="020B0604020202020204" pitchFamily="18" charset="0"/>
              </a:rPr>
              <a:t>	</a:t>
            </a:r>
            <a:endParaRPr lang="en-US" sz="800" dirty="0">
              <a:latin typeface="Amasis MT Pro Light" panose="020B0604020202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361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E1C609-1956-4AB2-9D6C-257ACA1F86C2}"/>
              </a:ext>
            </a:extLst>
          </p:cNvPr>
          <p:cNvSpPr txBox="1"/>
          <p:nvPr/>
        </p:nvSpPr>
        <p:spPr>
          <a:xfrm>
            <a:off x="0" y="266700"/>
            <a:ext cx="12192000" cy="523220"/>
          </a:xfrm>
          <a:prstGeom prst="rect">
            <a:avLst/>
          </a:prstGeom>
          <a:solidFill>
            <a:schemeClr val="accent6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954C1-B7DC-4CCC-B324-B3A0050BA5E9}"/>
              </a:ext>
            </a:extLst>
          </p:cNvPr>
          <p:cNvSpPr txBox="1"/>
          <p:nvPr/>
        </p:nvSpPr>
        <p:spPr>
          <a:xfrm>
            <a:off x="3707606" y="177968"/>
            <a:ext cx="4776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B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eacon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U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tility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S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ystem</a:t>
            </a:r>
            <a:endParaRPr lang="en-GB" sz="3600" dirty="0">
              <a:solidFill>
                <a:schemeClr val="accent6">
                  <a:lumMod val="20000"/>
                  <a:lumOff val="8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91553F-E840-454E-BB0B-216E55CEA4F2}"/>
              </a:ext>
            </a:extLst>
          </p:cNvPr>
          <p:cNvSpPr txBox="1"/>
          <p:nvPr/>
        </p:nvSpPr>
        <p:spPr>
          <a:xfrm>
            <a:off x="211931" y="1162999"/>
            <a:ext cx="11768138" cy="23083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DASHBOARD extends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javax.swing.JFrame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private void DISPLAY_LOST_ITEMS2ActionPerformed(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java.awt.event.ActionEvent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6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Main_Staff_Check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Main_Staff_Check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rsc.set_action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show_bookings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");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rsc.setVisible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(true); // Use the same instance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2400" dirty="0">
              <a:latin typeface="Amasis MT Pro Light" panose="020B060402020202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7EAA54-FE4A-4C49-95F4-F5A25EEF8E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3" t="2928" r="1" b="4549"/>
          <a:stretch/>
        </p:blipFill>
        <p:spPr>
          <a:xfrm>
            <a:off x="9896475" y="2819400"/>
            <a:ext cx="1979381" cy="5429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B8B2A4-D652-4615-B317-F7EB9E7CBAD0}"/>
              </a:ext>
            </a:extLst>
          </p:cNvPr>
          <p:cNvSpPr txBox="1"/>
          <p:nvPr/>
        </p:nvSpPr>
        <p:spPr>
          <a:xfrm>
            <a:off x="107718" y="878652"/>
            <a:ext cx="1176813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Bahnschrift SemiBold" panose="020B0502040204020203" pitchFamily="34" charset="0"/>
              </a:rPr>
              <a:t>6. Use of Main OOP Concepts : Polymorphism </a:t>
            </a:r>
          </a:p>
          <a:p>
            <a:pPr lvl="3"/>
            <a:endParaRPr lang="en-US" sz="800" dirty="0">
              <a:latin typeface="Amasis MT Pro Light" panose="020B0604020202020204" pitchFamily="18" charset="0"/>
            </a:endParaRPr>
          </a:p>
          <a:p>
            <a:pPr lvl="3"/>
            <a:r>
              <a:rPr lang="en-US" sz="1050" dirty="0">
                <a:latin typeface="Amasis MT Pro Light" panose="020B0604020202020204" pitchFamily="18" charset="0"/>
              </a:rPr>
              <a:t>	</a:t>
            </a:r>
            <a:endParaRPr lang="en-US" sz="800" dirty="0">
              <a:latin typeface="Amasis MT Pro Light" panose="020B0604020202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514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E1C609-1956-4AB2-9D6C-257ACA1F86C2}"/>
              </a:ext>
            </a:extLst>
          </p:cNvPr>
          <p:cNvSpPr txBox="1"/>
          <p:nvPr/>
        </p:nvSpPr>
        <p:spPr>
          <a:xfrm>
            <a:off x="0" y="266700"/>
            <a:ext cx="12192000" cy="523220"/>
          </a:xfrm>
          <a:prstGeom prst="rect">
            <a:avLst/>
          </a:prstGeom>
          <a:solidFill>
            <a:schemeClr val="accent6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954C1-B7DC-4CCC-B324-B3A0050BA5E9}"/>
              </a:ext>
            </a:extLst>
          </p:cNvPr>
          <p:cNvSpPr txBox="1"/>
          <p:nvPr/>
        </p:nvSpPr>
        <p:spPr>
          <a:xfrm>
            <a:off x="3707606" y="177968"/>
            <a:ext cx="4776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B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eacon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U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tility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S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ystem</a:t>
            </a:r>
            <a:endParaRPr lang="en-GB" sz="3600" dirty="0">
              <a:solidFill>
                <a:schemeClr val="accent6">
                  <a:lumMod val="20000"/>
                  <a:lumOff val="80000"/>
                </a:schemeClr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2762C2-1CFA-465B-A4BC-269D4A7D8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6275" y="4345281"/>
            <a:ext cx="3823532" cy="25468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BD062E-9220-4303-AE78-D9F1E755F80F}"/>
              </a:ext>
            </a:extLst>
          </p:cNvPr>
          <p:cNvSpPr txBox="1"/>
          <p:nvPr/>
        </p:nvSpPr>
        <p:spPr>
          <a:xfrm>
            <a:off x="157918" y="1008382"/>
            <a:ext cx="9091613" cy="32932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Main_Staff_Check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extends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javax.swing.JFrame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private void jButton1ActionPerformed(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java.awt.event.ActionEvent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2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String a = 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show_bookings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String b = 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change_price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get_action.equals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(a))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staff_check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 // Call the parent class method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else if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get_action.equals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(b))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Main_Staff_Check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priceUpdate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1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PRICE_UPDATE_STAFF_CHECK()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priceUpdate.OFFICERNIC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this.OFFICERNIC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// Share input fields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priceUpdate.OFFICERPW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this.OFFICERPW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  // Share input fields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priceUpdate.staff_check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 // Call the overridden method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2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latin typeface="Amasis MT Pro Light" panose="020B0604020202020204" pitchFamily="18" charset="0"/>
              </a:rPr>
              <a:t>	</a:t>
            </a:r>
            <a:endParaRPr lang="en-US" dirty="0">
              <a:latin typeface="Amasis MT Pro Light" panose="020B0604020202020204" pitchFamily="18" charset="0"/>
            </a:endParaRPr>
          </a:p>
        </p:txBody>
      </p:sp>
      <p:sp>
        <p:nvSpPr>
          <p:cNvPr id="8" name="Arrow: Bent-Up 7">
            <a:extLst>
              <a:ext uri="{FF2B5EF4-FFF2-40B4-BE49-F238E27FC236}">
                <a16:creationId xmlns:a16="http://schemas.microsoft.com/office/drawing/2014/main" id="{42422038-4D74-4A77-8488-8E40CBD5EDCC}"/>
              </a:ext>
            </a:extLst>
          </p:cNvPr>
          <p:cNvSpPr/>
          <p:nvPr/>
        </p:nvSpPr>
        <p:spPr>
          <a:xfrm flipH="1">
            <a:off x="5000625" y="4448175"/>
            <a:ext cx="4419599" cy="1419225"/>
          </a:xfrm>
          <a:prstGeom prst="bentUpArrow">
            <a:avLst>
              <a:gd name="adj1" fmla="val 3095"/>
              <a:gd name="adj2" fmla="val 11667"/>
              <a:gd name="adj3" fmla="val 50000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8C5432-4DB3-4073-8372-87B174DBFFA4}"/>
              </a:ext>
            </a:extLst>
          </p:cNvPr>
          <p:cNvSpPr/>
          <p:nvPr/>
        </p:nvSpPr>
        <p:spPr>
          <a:xfrm>
            <a:off x="9420224" y="5619751"/>
            <a:ext cx="1352551" cy="45720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0DC141-A2F8-493E-9EF8-F0FB2A795AD9}"/>
              </a:ext>
            </a:extLst>
          </p:cNvPr>
          <p:cNvSpPr/>
          <p:nvPr/>
        </p:nvSpPr>
        <p:spPr>
          <a:xfrm>
            <a:off x="896108" y="2520358"/>
            <a:ext cx="1627632" cy="200331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7D9D43-F07C-47A9-90E1-65531BE9339C}"/>
              </a:ext>
            </a:extLst>
          </p:cNvPr>
          <p:cNvSpPr/>
          <p:nvPr/>
        </p:nvSpPr>
        <p:spPr>
          <a:xfrm>
            <a:off x="4192524" y="2511223"/>
            <a:ext cx="2572512" cy="187821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07989C-C938-4822-825C-B84D9AD31A98}"/>
              </a:ext>
            </a:extLst>
          </p:cNvPr>
          <p:cNvCxnSpPr>
            <a:cxnSpLocks/>
          </p:cNvCxnSpPr>
          <p:nvPr/>
        </p:nvCxnSpPr>
        <p:spPr>
          <a:xfrm flipV="1">
            <a:off x="804672" y="2781300"/>
            <a:ext cx="330708" cy="16668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183676E-EC21-46B9-B0D6-594E96F7726E}"/>
              </a:ext>
            </a:extLst>
          </p:cNvPr>
          <p:cNvCxnSpPr>
            <a:cxnSpLocks/>
          </p:cNvCxnSpPr>
          <p:nvPr/>
        </p:nvCxnSpPr>
        <p:spPr>
          <a:xfrm flipH="1">
            <a:off x="6865620" y="1967954"/>
            <a:ext cx="2918460" cy="5524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8753660-F2B3-4C77-B340-287F88C0183D}"/>
              </a:ext>
            </a:extLst>
          </p:cNvPr>
          <p:cNvSpPr txBox="1"/>
          <p:nvPr/>
        </p:nvSpPr>
        <p:spPr>
          <a:xfrm>
            <a:off x="231081" y="4435848"/>
            <a:ext cx="214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Parent class 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757F7A-B7FD-4DF8-8BAC-F6FF12DC273A}"/>
              </a:ext>
            </a:extLst>
          </p:cNvPr>
          <p:cNvSpPr txBox="1"/>
          <p:nvPr/>
        </p:nvSpPr>
        <p:spPr>
          <a:xfrm>
            <a:off x="9890957" y="1695058"/>
            <a:ext cx="214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Child class </a:t>
            </a:r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3767EF-559B-47B2-B05F-8FD34AD36805}"/>
              </a:ext>
            </a:extLst>
          </p:cNvPr>
          <p:cNvSpPr/>
          <p:nvPr/>
        </p:nvSpPr>
        <p:spPr>
          <a:xfrm>
            <a:off x="9784080" y="1700829"/>
            <a:ext cx="2143125" cy="319087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D312DA-63F3-4B5B-AC65-10A72393E5D8}"/>
              </a:ext>
            </a:extLst>
          </p:cNvPr>
          <p:cNvSpPr/>
          <p:nvPr/>
        </p:nvSpPr>
        <p:spPr>
          <a:xfrm>
            <a:off x="138113" y="4448175"/>
            <a:ext cx="1760135" cy="369332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91AC0C-4560-4AE7-AEE7-E18CF7AEDD4C}"/>
              </a:ext>
            </a:extLst>
          </p:cNvPr>
          <p:cNvSpPr txBox="1"/>
          <p:nvPr/>
        </p:nvSpPr>
        <p:spPr>
          <a:xfrm>
            <a:off x="60960" y="763692"/>
            <a:ext cx="1176813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Bahnschrift SemiBold" panose="020B0502040204020203" pitchFamily="34" charset="0"/>
              </a:rPr>
              <a:t>6. Use of Main OOP Concepts : Polymorphism </a:t>
            </a:r>
          </a:p>
          <a:p>
            <a:pPr lvl="3"/>
            <a:endParaRPr lang="en-US" sz="800" dirty="0">
              <a:latin typeface="Amasis MT Pro Light" panose="020B0604020202020204" pitchFamily="18" charset="0"/>
            </a:endParaRPr>
          </a:p>
          <a:p>
            <a:pPr lvl="3"/>
            <a:r>
              <a:rPr lang="en-US" sz="1050" dirty="0">
                <a:latin typeface="Amasis MT Pro Light" panose="020B0604020202020204" pitchFamily="18" charset="0"/>
              </a:rPr>
              <a:t>	</a:t>
            </a:r>
            <a:endParaRPr lang="en-US" sz="800" dirty="0">
              <a:latin typeface="Amasis MT Pro Light" panose="020B0604020202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608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E1C609-1956-4AB2-9D6C-257ACA1F86C2}"/>
              </a:ext>
            </a:extLst>
          </p:cNvPr>
          <p:cNvSpPr txBox="1"/>
          <p:nvPr/>
        </p:nvSpPr>
        <p:spPr>
          <a:xfrm>
            <a:off x="0" y="266700"/>
            <a:ext cx="12192000" cy="523220"/>
          </a:xfrm>
          <a:prstGeom prst="rect">
            <a:avLst/>
          </a:prstGeom>
          <a:solidFill>
            <a:schemeClr val="accent6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954C1-B7DC-4CCC-B324-B3A0050BA5E9}"/>
              </a:ext>
            </a:extLst>
          </p:cNvPr>
          <p:cNvSpPr txBox="1"/>
          <p:nvPr/>
        </p:nvSpPr>
        <p:spPr>
          <a:xfrm>
            <a:off x="3707606" y="177968"/>
            <a:ext cx="4776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B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eacon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U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tility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S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ystem</a:t>
            </a:r>
            <a:endParaRPr lang="en-GB" sz="3600" dirty="0">
              <a:solidFill>
                <a:schemeClr val="accent6">
                  <a:lumMod val="20000"/>
                  <a:lumOff val="8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ABBC02-9779-492F-B213-7ADFB21A31DD}"/>
              </a:ext>
            </a:extLst>
          </p:cNvPr>
          <p:cNvSpPr txBox="1"/>
          <p:nvPr/>
        </p:nvSpPr>
        <p:spPr>
          <a:xfrm>
            <a:off x="261937" y="913031"/>
            <a:ext cx="11768138" cy="4144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Bahnschrift SemiBold" panose="020B0502040204020203" pitchFamily="34" charset="0"/>
              </a:rPr>
              <a:t>7. Exception Handling :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We mostly use java, </a:t>
            </a:r>
          </a:p>
          <a:p>
            <a:pPr marL="3486150" lvl="6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 err="1">
                <a:latin typeface="Amasis MT Pro Light" panose="020B0604020202020204" pitchFamily="18" charset="0"/>
              </a:rPr>
              <a:t>SqlExeption</a:t>
            </a:r>
            <a:r>
              <a:rPr lang="en-US" sz="2400" dirty="0">
                <a:latin typeface="Amasis MT Pro Light" panose="020B0604020202020204" pitchFamily="18" charset="0"/>
              </a:rPr>
              <a:t> (for database processes)</a:t>
            </a:r>
          </a:p>
          <a:p>
            <a:pPr marL="3486150" lvl="6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 err="1">
                <a:latin typeface="Amasis MT Pro Light" panose="020B0604020202020204" pitchFamily="18" charset="0"/>
              </a:rPr>
              <a:t>IOException</a:t>
            </a:r>
            <a:r>
              <a:rPr lang="en-US" sz="2400" b="1" dirty="0">
                <a:latin typeface="Amasis MT Pro Light" panose="020B0604020202020204" pitchFamily="18" charset="0"/>
              </a:rPr>
              <a:t> </a:t>
            </a:r>
            <a:r>
              <a:rPr lang="en-US" sz="2400" dirty="0">
                <a:latin typeface="Amasis MT Pro Light" panose="020B0604020202020204" pitchFamily="18" charset="0"/>
              </a:rPr>
              <a:t>(for file choosing process)</a:t>
            </a:r>
          </a:p>
          <a:p>
            <a:pPr marL="3486150" lvl="6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 err="1">
                <a:latin typeface="Amasis MT Pro Light" panose="020B0604020202020204" pitchFamily="18" charset="0"/>
              </a:rPr>
              <a:t>ClassNotFoundException</a:t>
            </a:r>
            <a:r>
              <a:rPr lang="en-US" sz="2400" dirty="0">
                <a:latin typeface="Amasis MT Pro Light" panose="020B06040202020202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Bahnschrift SemiBold" panose="020B0502040204020203" pitchFamily="34" charset="0"/>
              </a:rPr>
              <a:t>       With try – catch – finally – throws keywords.</a:t>
            </a:r>
          </a:p>
          <a:p>
            <a:pPr lvl="3">
              <a:lnSpc>
                <a:spcPct val="150000"/>
              </a:lnSpc>
            </a:pPr>
            <a:r>
              <a:rPr lang="en-US" sz="3600" dirty="0">
                <a:latin typeface="Amasis MT Pro Light" panose="020B0604020202020204" pitchFamily="18" charset="0"/>
              </a:rPr>
              <a:t>		</a:t>
            </a:r>
            <a:endParaRPr lang="en-US" sz="2400" dirty="0">
              <a:latin typeface="Amasis MT Pro Light" panose="020B0604020202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202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E1C609-1956-4AB2-9D6C-257ACA1F86C2}"/>
              </a:ext>
            </a:extLst>
          </p:cNvPr>
          <p:cNvSpPr txBox="1"/>
          <p:nvPr/>
        </p:nvSpPr>
        <p:spPr>
          <a:xfrm>
            <a:off x="0" y="266700"/>
            <a:ext cx="12192000" cy="523220"/>
          </a:xfrm>
          <a:prstGeom prst="rect">
            <a:avLst/>
          </a:prstGeom>
          <a:solidFill>
            <a:schemeClr val="accent6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954C1-B7DC-4CCC-B324-B3A0050BA5E9}"/>
              </a:ext>
            </a:extLst>
          </p:cNvPr>
          <p:cNvSpPr txBox="1"/>
          <p:nvPr/>
        </p:nvSpPr>
        <p:spPr>
          <a:xfrm>
            <a:off x="3707606" y="177968"/>
            <a:ext cx="4776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B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eacon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U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tility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S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ystem</a:t>
            </a:r>
            <a:endParaRPr lang="en-GB" sz="3600" dirty="0">
              <a:solidFill>
                <a:schemeClr val="accent6">
                  <a:lumMod val="20000"/>
                  <a:lumOff val="8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ABBC02-9779-492F-B213-7ADFB21A31DD}"/>
              </a:ext>
            </a:extLst>
          </p:cNvPr>
          <p:cNvSpPr txBox="1"/>
          <p:nvPr/>
        </p:nvSpPr>
        <p:spPr>
          <a:xfrm>
            <a:off x="261937" y="913031"/>
            <a:ext cx="11768138" cy="2712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Bahnschrift SemiBold" panose="020B0502040204020203" pitchFamily="34" charset="0"/>
              </a:rPr>
              <a:t>8. Features to be add newly </a:t>
            </a:r>
            <a:r>
              <a:rPr lang="en-US" sz="3200" dirty="0">
                <a:latin typeface="Bahnschrift SemiBold" panose="020B0502040204020203" pitchFamily="34" charset="0"/>
              </a:rPr>
              <a:t>(not implemented) </a:t>
            </a:r>
            <a:r>
              <a:rPr lang="en-US" sz="3600" dirty="0">
                <a:latin typeface="Bahnschrift SemiBold" panose="020B0502040204020203" pitchFamily="34" charset="0"/>
              </a:rPr>
              <a:t>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masis MT Pro Light" panose="020B0604020202020204" pitchFamily="18" charset="0"/>
              </a:rPr>
              <a:t>Feature 01- new bus halts adding process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masis MT Pro Light" panose="020B0604020202020204" pitchFamily="18" charset="0"/>
              </a:rPr>
              <a:t>Feature 02- new bus routes adding process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masis MT Pro Light" panose="020B0604020202020204" pitchFamily="18" charset="0"/>
              </a:rPr>
              <a:t>Feature 03- change arrival times process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Amasis MT Pro Light" panose="020B0604020202020204" pitchFamily="18" charset="0"/>
              </a:rPr>
              <a:t>(These parts can change through database and java code.)</a:t>
            </a:r>
            <a:r>
              <a:rPr lang="en-US" dirty="0">
                <a:latin typeface="Amasis MT Pro Light" panose="020B0604020202020204" pitchFamily="18" charset="0"/>
              </a:rPr>
              <a:t>	</a:t>
            </a:r>
            <a:endParaRPr lang="en-US" sz="1200" dirty="0">
              <a:latin typeface="Amasis MT Pro Light" panose="020B0604020202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906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E1C609-1956-4AB2-9D6C-257ACA1F86C2}"/>
              </a:ext>
            </a:extLst>
          </p:cNvPr>
          <p:cNvSpPr txBox="1"/>
          <p:nvPr/>
        </p:nvSpPr>
        <p:spPr>
          <a:xfrm>
            <a:off x="0" y="266700"/>
            <a:ext cx="12192000" cy="523220"/>
          </a:xfrm>
          <a:prstGeom prst="rect">
            <a:avLst/>
          </a:prstGeom>
          <a:solidFill>
            <a:schemeClr val="accent6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954C1-B7DC-4CCC-B324-B3A0050BA5E9}"/>
              </a:ext>
            </a:extLst>
          </p:cNvPr>
          <p:cNvSpPr txBox="1"/>
          <p:nvPr/>
        </p:nvSpPr>
        <p:spPr>
          <a:xfrm>
            <a:off x="3707606" y="177968"/>
            <a:ext cx="4776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B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eacon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U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tility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rPr>
              <a:t>S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ystem</a:t>
            </a:r>
            <a:endParaRPr lang="en-GB" sz="3600" dirty="0">
              <a:solidFill>
                <a:schemeClr val="accent6">
                  <a:lumMod val="20000"/>
                  <a:lumOff val="8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ABBC02-9779-492F-B213-7ADFB21A31DD}"/>
              </a:ext>
            </a:extLst>
          </p:cNvPr>
          <p:cNvSpPr txBox="1"/>
          <p:nvPr/>
        </p:nvSpPr>
        <p:spPr>
          <a:xfrm>
            <a:off x="261937" y="913031"/>
            <a:ext cx="10825163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Bahnschrift SemiBold" panose="020B0502040204020203" pitchFamily="34" charset="0"/>
              </a:rPr>
              <a:t>9. Conclusion</a:t>
            </a:r>
          </a:p>
          <a:p>
            <a:endParaRPr lang="en-US" sz="3600" dirty="0">
              <a:latin typeface="Bahnschrift SemiBold" panose="020B0502040204020203" pitchFamily="34" charset="0"/>
            </a:endParaRPr>
          </a:p>
          <a:p>
            <a:pPr lvl="1" algn="just"/>
            <a:r>
              <a:rPr lang="en-US" sz="3200" dirty="0"/>
              <a:t>In conclusion, leveraging Java concepts, exception handling, SQL databases, and various Java constructs, we have successfully developed a user-friendly Java application to address transportation needs. This application, named Beacon Utility System (BUS), represents a reliable and efficient solution for modern transportation management.</a:t>
            </a:r>
          </a:p>
          <a:p>
            <a:pPr lvl="4"/>
            <a:r>
              <a:rPr lang="en-US" sz="3200" dirty="0">
                <a:latin typeface="Amasis MT Pro Light" panose="020B0604020202020204" pitchFamily="18" charset="0"/>
              </a:rPr>
              <a:t>		</a:t>
            </a:r>
            <a:endParaRPr lang="en-US" sz="2400" dirty="0">
              <a:latin typeface="Amasis MT Pro Light" panose="020B0604020202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822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E1C609-1956-4AB2-9D6C-257ACA1F86C2}"/>
              </a:ext>
            </a:extLst>
          </p:cNvPr>
          <p:cNvSpPr txBox="1"/>
          <p:nvPr/>
        </p:nvSpPr>
        <p:spPr>
          <a:xfrm>
            <a:off x="0" y="2828835"/>
            <a:ext cx="12192000" cy="1200329"/>
          </a:xfrm>
          <a:prstGeom prst="rect">
            <a:avLst/>
          </a:prstGeom>
          <a:solidFill>
            <a:schemeClr val="accent6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7200" dirty="0"/>
              <a:t>Thank You</a:t>
            </a:r>
            <a:endParaRPr lang="en-GB" sz="7200" dirty="0"/>
          </a:p>
        </p:txBody>
      </p:sp>
    </p:spTree>
    <p:extLst>
      <p:ext uri="{BB962C8B-B14F-4D97-AF65-F5344CB8AC3E}">
        <p14:creationId xmlns:p14="http://schemas.microsoft.com/office/powerpoint/2010/main" val="1158864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1698</TotalTime>
  <Words>1906</Words>
  <Application>Microsoft Office PowerPoint</Application>
  <PresentationFormat>Widescreen</PresentationFormat>
  <Paragraphs>280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 MT</vt:lpstr>
      <vt:lpstr>Amasis MT Pro Light</vt:lpstr>
      <vt:lpstr>Arial</vt:lpstr>
      <vt:lpstr>Bahnschrift SemiBold</vt:lpstr>
      <vt:lpstr>Calibri</vt:lpstr>
      <vt:lpstr>Calibri Light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gevindu maduwantha</dc:creator>
  <cp:lastModifiedBy>HS/2021/0051 - MADUWANTHA H.A.D.G.</cp:lastModifiedBy>
  <cp:revision>107</cp:revision>
  <dcterms:created xsi:type="dcterms:W3CDTF">2024-12-11T11:09:43Z</dcterms:created>
  <dcterms:modified xsi:type="dcterms:W3CDTF">2025-09-19T17:49:19Z</dcterms:modified>
</cp:coreProperties>
</file>